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57" r:id="rId2"/>
    <p:sldId id="258" r:id="rId3"/>
    <p:sldId id="259" r:id="rId4"/>
    <p:sldId id="260" r:id="rId5"/>
    <p:sldId id="261" r:id="rId6"/>
    <p:sldId id="262" r:id="rId7"/>
    <p:sldId id="263" r:id="rId8"/>
    <p:sldId id="264" r:id="rId9"/>
    <p:sldId id="268" r:id="rId10"/>
    <p:sldId id="265" r:id="rId11"/>
    <p:sldId id="266" r:id="rId12"/>
    <p:sldId id="267" r:id="rId13"/>
    <p:sldId id="269" r:id="rId14"/>
    <p:sldId id="270" r:id="rId15"/>
    <p:sldId id="273" r:id="rId16"/>
    <p:sldId id="272" r:id="rId17"/>
    <p:sldId id="271" r:id="rId18"/>
    <p:sldId id="274" r:id="rId19"/>
    <p:sldId id="275" r:id="rId20"/>
    <p:sldId id="277" r:id="rId21"/>
    <p:sldId id="276"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84"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7F241CE-7DB8-489E-873B-B165FCDE1DBE}" type="datetimeFigureOut">
              <a:rPr lang="en-GB" smtClean="0"/>
              <a:t>04/12/2024</a:t>
            </a:fld>
            <a:endParaRPr lang="en-GB"/>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GB"/>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3E81F1E-9BE5-4654-BE9B-E6955FBA6BD6}"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73E81F1E-9BE5-4654-BE9B-E6955FBA6BD6}" type="slidenum">
              <a:rPr lang="en-GB" smtClean="0"/>
              <a:t>‹#›</a:t>
            </a:fld>
            <a:endParaRPr lang="en-GB"/>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73E81F1E-9BE5-4654-BE9B-E6955FBA6BD6}" type="slidenum">
              <a:rPr lang="en-GB" smtClean="0"/>
              <a:t>‹#›</a:t>
            </a:fld>
            <a:endParaRPr lang="en-GB"/>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73E81F1E-9BE5-4654-BE9B-E6955FBA6BD6}" type="slidenum">
              <a:rPr lang="en-GB" smtClean="0"/>
              <a:t>‹#›</a:t>
            </a:fld>
            <a:endParaRPr lang="en-GB"/>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8" name="Footer Placeholder 7"/>
          <p:cNvSpPr>
            <a:spLocks noGrp="1"/>
          </p:cNvSpPr>
          <p:nvPr>
            <p:ph type="ftr" sz="quarter" idx="11"/>
          </p:nvPr>
        </p:nvSpPr>
        <p:spPr/>
        <p:txBody>
          <a:bodyPr/>
          <a:lstStyle>
            <a:extLst/>
          </a:lstStyle>
          <a:p>
            <a:endParaRPr lang="en-GB"/>
          </a:p>
        </p:txBody>
      </p:sp>
      <p:sp>
        <p:nvSpPr>
          <p:cNvPr id="9" name="Slide Number Placeholder 8"/>
          <p:cNvSpPr>
            <a:spLocks noGrp="1"/>
          </p:cNvSpPr>
          <p:nvPr>
            <p:ph type="sldNum" sz="quarter" idx="12"/>
          </p:nvPr>
        </p:nvSpPr>
        <p:spPr/>
        <p:txBody>
          <a:bodyPr/>
          <a:lstStyle>
            <a:extLst/>
          </a:lstStyle>
          <a:p>
            <a:fld id="{73E81F1E-9BE5-4654-BE9B-E6955FBA6BD6}"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4" name="Footer Placeholder 3"/>
          <p:cNvSpPr>
            <a:spLocks noGrp="1"/>
          </p:cNvSpPr>
          <p:nvPr>
            <p:ph type="ftr" sz="quarter" idx="11"/>
          </p:nvPr>
        </p:nvSpPr>
        <p:spPr/>
        <p:txBody>
          <a:bodyPr/>
          <a:lstStyle>
            <a:extLst/>
          </a:lstStyle>
          <a:p>
            <a:endParaRPr lang="en-GB"/>
          </a:p>
        </p:txBody>
      </p:sp>
      <p:sp>
        <p:nvSpPr>
          <p:cNvPr id="5" name="Slide Number Placeholder 4"/>
          <p:cNvSpPr>
            <a:spLocks noGrp="1"/>
          </p:cNvSpPr>
          <p:nvPr>
            <p:ph type="sldNum" sz="quarter" idx="12"/>
          </p:nvPr>
        </p:nvSpPr>
        <p:spPr/>
        <p:txBody>
          <a:bodyPr/>
          <a:lstStyle>
            <a:extLst/>
          </a:lstStyle>
          <a:p>
            <a:fld id="{73E81F1E-9BE5-4654-BE9B-E6955FBA6BD6}" type="slidenum">
              <a:rPr lang="en-GB" smtClean="0"/>
              <a:t>‹#›</a:t>
            </a:fld>
            <a:endParaRPr lang="en-GB"/>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3" name="Footer Placeholder 2"/>
          <p:cNvSpPr>
            <a:spLocks noGrp="1"/>
          </p:cNvSpPr>
          <p:nvPr>
            <p:ph type="ftr" sz="quarter" idx="11"/>
          </p:nvPr>
        </p:nvSpPr>
        <p:spPr/>
        <p:txBody>
          <a:bodyPr/>
          <a:lstStyle>
            <a:extLst/>
          </a:lstStyle>
          <a:p>
            <a:endParaRPr lang="en-GB"/>
          </a:p>
        </p:txBody>
      </p:sp>
      <p:sp>
        <p:nvSpPr>
          <p:cNvPr id="4" name="Slide Number Placeholder 3"/>
          <p:cNvSpPr>
            <a:spLocks noGrp="1"/>
          </p:cNvSpPr>
          <p:nvPr>
            <p:ph type="sldNum" sz="quarter" idx="12"/>
          </p:nvPr>
        </p:nvSpPr>
        <p:spPr/>
        <p:txBody>
          <a:bodyPr/>
          <a:lstStyle>
            <a:extLst/>
          </a:lstStyle>
          <a:p>
            <a:fld id="{73E81F1E-9BE5-4654-BE9B-E6955FBA6BD6}"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7F241CE-7DB8-489E-873B-B165FCDE1DBE}" type="datetimeFigureOut">
              <a:rPr lang="en-GB" smtClean="0"/>
              <a:t>04/12/2024</a:t>
            </a:fld>
            <a:endParaRPr lang="en-GB"/>
          </a:p>
        </p:txBody>
      </p:sp>
      <p:sp>
        <p:nvSpPr>
          <p:cNvPr id="6" name="Footer Placeholder 5"/>
          <p:cNvSpPr>
            <a:spLocks noGrp="1"/>
          </p:cNvSpPr>
          <p:nvPr>
            <p:ph type="ftr" sz="quarter" idx="11"/>
          </p:nvPr>
        </p:nvSpPr>
        <p:spPr/>
        <p:txBody>
          <a:bodyPr/>
          <a:lstStyle>
            <a:extLst/>
          </a:lstStyle>
          <a:p>
            <a:endParaRPr lang="en-GB"/>
          </a:p>
        </p:txBody>
      </p:sp>
      <p:sp>
        <p:nvSpPr>
          <p:cNvPr id="7" name="Slide Number Placeholder 6"/>
          <p:cNvSpPr>
            <a:spLocks noGrp="1"/>
          </p:cNvSpPr>
          <p:nvPr>
            <p:ph type="sldNum" sz="quarter" idx="12"/>
          </p:nvPr>
        </p:nvSpPr>
        <p:spPr/>
        <p:txBody>
          <a:bodyPr/>
          <a:lstStyle>
            <a:extLst/>
          </a:lstStyle>
          <a:p>
            <a:fld id="{73E81F1E-9BE5-4654-BE9B-E6955FBA6BD6}" type="slidenum">
              <a:rPr lang="en-GB" smtClean="0"/>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7F241CE-7DB8-489E-873B-B165FCDE1DBE}" type="datetimeFigureOut">
              <a:rPr lang="en-GB" smtClean="0"/>
              <a:t>04/12/2024</a:t>
            </a:fld>
            <a:endParaRPr lang="en-GB"/>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GB"/>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3E81F1E-9BE5-4654-BE9B-E6955FBA6BD6}" type="slidenum">
              <a:rPr lang="en-GB" smtClean="0"/>
              <a:t>‹#›</a:t>
            </a:fld>
            <a:endParaRPr lang="en-GB"/>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73E81F1E-9BE5-4654-BE9B-E6955FBA6BD6}"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7F241CE-7DB8-489E-873B-B165FCDE1DBE}" type="datetimeFigureOut">
              <a:rPr lang="en-GB" smtClean="0"/>
              <a:t>04/12/2024</a:t>
            </a:fld>
            <a:endParaRPr lang="en-GB"/>
          </a:p>
        </p:txBody>
      </p:sp>
      <p:sp>
        <p:nvSpPr>
          <p:cNvPr id="5" name="Footer Placeholder 4"/>
          <p:cNvSpPr>
            <a:spLocks noGrp="1"/>
          </p:cNvSpPr>
          <p:nvPr>
            <p:ph type="ftr" sz="quarter" idx="11"/>
          </p:nvPr>
        </p:nvSpPr>
        <p:spPr/>
        <p:txBody>
          <a:bodyPr/>
          <a:lstStyle>
            <a:extLst/>
          </a:lstStyle>
          <a:p>
            <a:endParaRPr lang="en-GB"/>
          </a:p>
        </p:txBody>
      </p:sp>
      <p:sp>
        <p:nvSpPr>
          <p:cNvPr id="6" name="Slide Number Placeholder 5"/>
          <p:cNvSpPr>
            <a:spLocks noGrp="1"/>
          </p:cNvSpPr>
          <p:nvPr>
            <p:ph type="sldNum" sz="quarter" idx="12"/>
          </p:nvPr>
        </p:nvSpPr>
        <p:spPr/>
        <p:txBody>
          <a:bodyPr/>
          <a:lstStyle>
            <a:extLst/>
          </a:lstStyle>
          <a:p>
            <a:fld id="{73E81F1E-9BE5-4654-BE9B-E6955FBA6BD6}"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7F241CE-7DB8-489E-873B-B165FCDE1DBE}" type="datetimeFigureOut">
              <a:rPr lang="en-GB" smtClean="0"/>
              <a:t>04/12/2024</a:t>
            </a:fld>
            <a:endParaRPr lang="en-GB"/>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GB"/>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3E81F1E-9BE5-4654-BE9B-E6955FBA6BD6}"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29600" cy="5184576"/>
          </a:xfrm>
        </p:spPr>
        <p:txBody>
          <a:bodyPr>
            <a:normAutofit/>
          </a:bodyPr>
          <a:lstStyle/>
          <a:p>
            <a:pPr algn="ctr"/>
            <a:r>
              <a:rPr lang="en-GB" b="1" dirty="0" smtClean="0"/>
              <a:t/>
            </a:r>
            <a:br>
              <a:rPr lang="en-GB" b="1" dirty="0" smtClean="0"/>
            </a:br>
            <a:r>
              <a:rPr lang="en-GB" b="1" dirty="0" smtClean="0"/>
              <a:t>UNIT FIVE</a:t>
            </a:r>
            <a:br>
              <a:rPr lang="en-GB" b="1" dirty="0" smtClean="0"/>
            </a:br>
            <a:r>
              <a:rPr lang="en-GB" b="1" dirty="0" smtClean="0"/>
              <a:t> POLITICS, ECONOMY, AND SOCIAL PROCESSES FROM THE EARLY SIXTEENTH TO THE END OF THE EIGHTEENTH CENTURIES </a:t>
            </a:r>
            <a:endParaRPr lang="en-GB" b="1" dirty="0"/>
          </a:p>
        </p:txBody>
      </p:sp>
    </p:spTree>
    <p:extLst>
      <p:ext uri="{BB962C8B-B14F-4D97-AF65-F5344CB8AC3E}">
        <p14:creationId xmlns:p14="http://schemas.microsoft.com/office/powerpoint/2010/main" val="18105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132856"/>
            <a:ext cx="8229600" cy="5822107"/>
          </a:xfrm>
        </p:spPr>
        <p:txBody>
          <a:bodyPr>
            <a:normAutofit/>
          </a:bodyPr>
          <a:lstStyle/>
          <a:p>
            <a:pPr algn="just"/>
            <a:r>
              <a:rPr lang="en-GB" sz="2400" dirty="0"/>
              <a:t>The first half of the sixteenth century was arguably </a:t>
            </a:r>
            <a:r>
              <a:rPr lang="en-GB" sz="2400" b="1" dirty="0">
                <a:solidFill>
                  <a:srgbClr val="00B050"/>
                </a:solidFill>
              </a:rPr>
              <a:t>the most turbulent period </a:t>
            </a:r>
            <a:r>
              <a:rPr lang="en-GB" sz="2400" dirty="0"/>
              <a:t>in the history of Ethiopia and the Horn. </a:t>
            </a:r>
            <a:endParaRPr lang="en-GB" sz="2400" dirty="0" smtClean="0"/>
          </a:p>
          <a:p>
            <a:pPr algn="just"/>
            <a:r>
              <a:rPr lang="en-GB" sz="2400" dirty="0" smtClean="0"/>
              <a:t>The </a:t>
            </a:r>
            <a:r>
              <a:rPr lang="en-GB" sz="2400" dirty="0"/>
              <a:t>principal events which occurred at the time and left lasting imprints in the socio-political map of Ethiopia </a:t>
            </a:r>
            <a:r>
              <a:rPr lang="en-GB" sz="2400" dirty="0" smtClean="0"/>
              <a:t>were:</a:t>
            </a:r>
          </a:p>
          <a:p>
            <a:pPr algn="just">
              <a:buFont typeface="Wingdings" pitchFamily="2" charset="2"/>
              <a:buChar char="v"/>
            </a:pPr>
            <a:r>
              <a:rPr lang="en-GB" sz="2400" dirty="0" smtClean="0"/>
              <a:t> </a:t>
            </a:r>
            <a:r>
              <a:rPr lang="en-GB" sz="2400" b="1" dirty="0">
                <a:solidFill>
                  <a:srgbClr val="00B050"/>
                </a:solidFill>
              </a:rPr>
              <a:t>the wars between the Christian Kingdom </a:t>
            </a:r>
            <a:r>
              <a:rPr lang="en-GB" sz="2400" b="1" dirty="0"/>
              <a:t>and </a:t>
            </a:r>
            <a:r>
              <a:rPr lang="en-GB" sz="2400" b="1" dirty="0">
                <a:solidFill>
                  <a:srgbClr val="00B050"/>
                </a:solidFill>
              </a:rPr>
              <a:t>the Sultanate of </a:t>
            </a:r>
            <a:r>
              <a:rPr lang="en-GB" sz="2400" b="1" dirty="0" err="1">
                <a:solidFill>
                  <a:srgbClr val="00B050"/>
                </a:solidFill>
              </a:rPr>
              <a:t>Adal</a:t>
            </a:r>
            <a:r>
              <a:rPr lang="en-GB" sz="2400" b="1" dirty="0">
                <a:solidFill>
                  <a:srgbClr val="00B050"/>
                </a:solidFill>
              </a:rPr>
              <a:t>, </a:t>
            </a:r>
            <a:endParaRPr lang="en-GB" sz="2400" b="1" dirty="0" smtClean="0">
              <a:solidFill>
                <a:srgbClr val="00B050"/>
              </a:solidFill>
            </a:endParaRPr>
          </a:p>
          <a:p>
            <a:pPr algn="just">
              <a:buFont typeface="Wingdings" pitchFamily="2" charset="2"/>
              <a:buChar char="v"/>
            </a:pPr>
            <a:r>
              <a:rPr lang="en-GB" sz="2400" b="1" dirty="0" smtClean="0">
                <a:solidFill>
                  <a:srgbClr val="00B050"/>
                </a:solidFill>
              </a:rPr>
              <a:t>the </a:t>
            </a:r>
            <a:r>
              <a:rPr lang="en-GB" sz="2400" b="1" dirty="0">
                <a:solidFill>
                  <a:srgbClr val="00B050"/>
                </a:solidFill>
              </a:rPr>
              <a:t>Oromo population movement </a:t>
            </a:r>
            <a:r>
              <a:rPr lang="en-GB" sz="2400" dirty="0"/>
              <a:t>and </a:t>
            </a:r>
            <a:endParaRPr lang="en-GB" sz="2400" dirty="0" smtClean="0"/>
          </a:p>
          <a:p>
            <a:pPr algn="just">
              <a:buFont typeface="Wingdings" pitchFamily="2" charset="2"/>
              <a:buChar char="v"/>
            </a:pPr>
            <a:r>
              <a:rPr lang="en-GB" sz="2400" b="1" dirty="0" smtClean="0">
                <a:solidFill>
                  <a:srgbClr val="00B050"/>
                </a:solidFill>
              </a:rPr>
              <a:t>the </a:t>
            </a:r>
            <a:r>
              <a:rPr lang="en-GB" sz="2400" b="1" dirty="0">
                <a:solidFill>
                  <a:srgbClr val="00B050"/>
                </a:solidFill>
              </a:rPr>
              <a:t>Jesuit </a:t>
            </a:r>
            <a:r>
              <a:rPr lang="en-GB" sz="2400" b="1" dirty="0" smtClean="0">
                <a:solidFill>
                  <a:srgbClr val="00B050"/>
                </a:solidFill>
              </a:rPr>
              <a:t>interlude.</a:t>
            </a:r>
            <a:endParaRPr lang="en-GB" sz="2400" b="1" dirty="0">
              <a:solidFill>
                <a:srgbClr val="00B050"/>
              </a:solidFill>
            </a:endParaRPr>
          </a:p>
        </p:txBody>
      </p:sp>
      <p:sp>
        <p:nvSpPr>
          <p:cNvPr id="2" name="Title 1"/>
          <p:cNvSpPr>
            <a:spLocks noGrp="1"/>
          </p:cNvSpPr>
          <p:nvPr>
            <p:ph type="title"/>
          </p:nvPr>
        </p:nvSpPr>
        <p:spPr>
          <a:xfrm>
            <a:off x="457200" y="274638"/>
            <a:ext cx="8229600" cy="1786210"/>
          </a:xfrm>
        </p:spPr>
        <p:txBody>
          <a:bodyPr>
            <a:normAutofit fontScale="90000"/>
          </a:bodyPr>
          <a:lstStyle/>
          <a:p>
            <a:pPr algn="just"/>
            <a:r>
              <a:rPr lang="en-GB" dirty="0" smtClean="0"/>
              <a:t>5.1</a:t>
            </a:r>
            <a:r>
              <a:rPr lang="en-GB" dirty="0"/>
              <a:t>. Conflict between the Christian Kingdom and the Sultanate of </a:t>
            </a:r>
            <a:r>
              <a:rPr lang="en-GB" dirty="0" err="1"/>
              <a:t>Adal</a:t>
            </a:r>
            <a:r>
              <a:rPr lang="en-GB" dirty="0"/>
              <a:t>, and the Aftermath</a:t>
            </a:r>
          </a:p>
        </p:txBody>
      </p:sp>
    </p:spTree>
    <p:extLst>
      <p:ext uri="{BB962C8B-B14F-4D97-AF65-F5344CB8AC3E}">
        <p14:creationId xmlns:p14="http://schemas.microsoft.com/office/powerpoint/2010/main" val="16619426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6672"/>
            <a:ext cx="8229600" cy="5530619"/>
          </a:xfrm>
        </p:spPr>
        <p:txBody>
          <a:bodyPr>
            <a:normAutofit fontScale="92500"/>
          </a:bodyPr>
          <a:lstStyle/>
          <a:p>
            <a:r>
              <a:rPr lang="en-GB" sz="2400" dirty="0"/>
              <a:t>The </a:t>
            </a:r>
            <a:r>
              <a:rPr lang="en-GB" sz="2400" dirty="0" smtClean="0"/>
              <a:t>protracted </a:t>
            </a:r>
            <a:r>
              <a:rPr lang="en-GB" sz="2400" dirty="0"/>
              <a:t>conflicts spanning over two centuries, </a:t>
            </a:r>
            <a:r>
              <a:rPr lang="en-GB" sz="2400" b="1" dirty="0">
                <a:solidFill>
                  <a:srgbClr val="00B050"/>
                </a:solidFill>
              </a:rPr>
              <a:t>primarily to control </a:t>
            </a:r>
            <a:r>
              <a:rPr lang="en-GB" sz="2400" b="1" dirty="0" smtClean="0">
                <a:solidFill>
                  <a:srgbClr val="00B050"/>
                </a:solidFill>
              </a:rPr>
              <a:t>the </a:t>
            </a:r>
            <a:r>
              <a:rPr lang="en-GB" sz="2400" b="1" dirty="0">
                <a:solidFill>
                  <a:srgbClr val="00B050"/>
                </a:solidFill>
              </a:rPr>
              <a:t>long distance trade route </a:t>
            </a:r>
            <a:r>
              <a:rPr lang="en-GB" sz="2400" dirty="0" smtClean="0"/>
              <a:t>passing through </a:t>
            </a:r>
            <a:r>
              <a:rPr lang="en-GB" sz="2400" b="1" dirty="0" err="1" smtClean="0">
                <a:solidFill>
                  <a:srgbClr val="00B050"/>
                </a:solidFill>
              </a:rPr>
              <a:t>Zeila</a:t>
            </a:r>
            <a:r>
              <a:rPr lang="en-GB" sz="2400" dirty="0" smtClean="0"/>
              <a:t> and </a:t>
            </a:r>
            <a:r>
              <a:rPr lang="en-GB" sz="2400" b="1" dirty="0" smtClean="0">
                <a:solidFill>
                  <a:srgbClr val="00B050"/>
                </a:solidFill>
              </a:rPr>
              <a:t>levy tribute</a:t>
            </a:r>
            <a:r>
              <a:rPr lang="en-GB" sz="2400" dirty="0" smtClean="0"/>
              <a:t>, became </a:t>
            </a:r>
            <a:r>
              <a:rPr lang="en-GB" sz="2400" dirty="0"/>
              <a:t>a war of conquest which </a:t>
            </a:r>
            <a:r>
              <a:rPr lang="en-GB" sz="2400" b="1" dirty="0">
                <a:solidFill>
                  <a:srgbClr val="00B050"/>
                </a:solidFill>
              </a:rPr>
              <a:t>attained its climax between 1529 and 1543</a:t>
            </a:r>
            <a:r>
              <a:rPr lang="en-GB" sz="2400" b="1" dirty="0" smtClean="0">
                <a:solidFill>
                  <a:srgbClr val="00B050"/>
                </a:solidFill>
              </a:rPr>
              <a:t>.</a:t>
            </a:r>
          </a:p>
          <a:p>
            <a:r>
              <a:rPr lang="en-GB" sz="2400" b="1" dirty="0"/>
              <a:t> </a:t>
            </a:r>
            <a:r>
              <a:rPr lang="en-GB" sz="2400" dirty="0"/>
              <a:t>The war between the two rivalling </a:t>
            </a:r>
            <a:r>
              <a:rPr lang="en-GB" sz="2400" dirty="0" smtClean="0"/>
              <a:t>powers  ( Christian Kingdom and the Sultanate of </a:t>
            </a:r>
            <a:r>
              <a:rPr lang="en-GB" sz="2400" dirty="0" err="1" smtClean="0"/>
              <a:t>Adal</a:t>
            </a:r>
            <a:r>
              <a:rPr lang="en-GB" sz="2400" dirty="0" smtClean="0"/>
              <a:t>)  </a:t>
            </a:r>
            <a:r>
              <a:rPr lang="en-GB" sz="2400" dirty="0"/>
              <a:t>assumed a new momentum with the emergence of new leadership in the </a:t>
            </a:r>
            <a:r>
              <a:rPr lang="en-GB" sz="2400" dirty="0" err="1"/>
              <a:t>Adal</a:t>
            </a:r>
            <a:r>
              <a:rPr lang="en-GB" sz="2400" dirty="0"/>
              <a:t> Sultanate under </a:t>
            </a:r>
            <a:r>
              <a:rPr lang="en-GB" sz="2400" dirty="0">
                <a:solidFill>
                  <a:srgbClr val="00B050"/>
                </a:solidFill>
              </a:rPr>
              <a:t>Imam Ahmed </a:t>
            </a:r>
            <a:r>
              <a:rPr lang="en-GB" sz="2400" dirty="0" err="1">
                <a:solidFill>
                  <a:srgbClr val="00B050"/>
                </a:solidFill>
              </a:rPr>
              <a:t>ibn</a:t>
            </a:r>
            <a:r>
              <a:rPr lang="en-GB" sz="2400" dirty="0">
                <a:solidFill>
                  <a:srgbClr val="00B050"/>
                </a:solidFill>
              </a:rPr>
              <a:t> Ibrahim </a:t>
            </a:r>
            <a:r>
              <a:rPr lang="en-GB" sz="2400" dirty="0" smtClean="0">
                <a:solidFill>
                  <a:srgbClr val="00B050"/>
                </a:solidFill>
              </a:rPr>
              <a:t>al Ghazi</a:t>
            </a:r>
            <a:r>
              <a:rPr lang="en-GB" sz="2400" dirty="0"/>
              <a:t>, whose origins are obscure</a:t>
            </a:r>
            <a:r>
              <a:rPr lang="en-GB" sz="2400" dirty="0" smtClean="0"/>
              <a:t>.</a:t>
            </a:r>
          </a:p>
          <a:p>
            <a:r>
              <a:rPr lang="en-GB" sz="2400" dirty="0" smtClean="0"/>
              <a:t> </a:t>
            </a:r>
            <a:r>
              <a:rPr lang="en-GB" sz="2400" dirty="0"/>
              <a:t>In most Christian sources, he is called ―</a:t>
            </a:r>
            <a:r>
              <a:rPr lang="en-GB" sz="2400" b="1" dirty="0" err="1" smtClean="0">
                <a:solidFill>
                  <a:srgbClr val="00B050"/>
                </a:solidFill>
              </a:rPr>
              <a:t>Gragn</a:t>
            </a:r>
            <a:r>
              <a:rPr lang="en-GB" sz="2400" b="1" dirty="0" smtClean="0">
                <a:solidFill>
                  <a:srgbClr val="00B050"/>
                </a:solidFill>
              </a:rPr>
              <a:t> </a:t>
            </a:r>
            <a:r>
              <a:rPr lang="en-GB" sz="2400" b="1" dirty="0">
                <a:solidFill>
                  <a:srgbClr val="00B050"/>
                </a:solidFill>
              </a:rPr>
              <a:t>(the </a:t>
            </a:r>
            <a:r>
              <a:rPr lang="en-GB" sz="2400" b="1" dirty="0" smtClean="0">
                <a:solidFill>
                  <a:srgbClr val="00B050"/>
                </a:solidFill>
              </a:rPr>
              <a:t>left handed</a:t>
            </a:r>
            <a:r>
              <a:rPr lang="en-GB" sz="2400" b="1" dirty="0">
                <a:solidFill>
                  <a:srgbClr val="00B050"/>
                </a:solidFill>
              </a:rPr>
              <a:t>). </a:t>
            </a:r>
            <a:endParaRPr lang="en-GB" sz="2400" b="1" dirty="0" smtClean="0">
              <a:solidFill>
                <a:srgbClr val="00B050"/>
              </a:solidFill>
            </a:endParaRPr>
          </a:p>
          <a:p>
            <a:r>
              <a:rPr lang="en-GB" sz="2400" dirty="0" smtClean="0"/>
              <a:t>He </a:t>
            </a:r>
            <a:r>
              <a:rPr lang="en-GB" sz="2400" dirty="0"/>
              <a:t>was probably born in </a:t>
            </a:r>
            <a:r>
              <a:rPr lang="en-GB" sz="2400" b="1" dirty="0" err="1">
                <a:solidFill>
                  <a:srgbClr val="00B050"/>
                </a:solidFill>
              </a:rPr>
              <a:t>Hubat</a:t>
            </a:r>
            <a:r>
              <a:rPr lang="en-GB" sz="2400" b="1" dirty="0">
                <a:solidFill>
                  <a:srgbClr val="00B050"/>
                </a:solidFill>
              </a:rPr>
              <a:t> </a:t>
            </a:r>
            <a:r>
              <a:rPr lang="en-GB" sz="2400" b="1" dirty="0"/>
              <a:t>(</a:t>
            </a:r>
            <a:r>
              <a:rPr lang="en-GB" sz="2400" dirty="0"/>
              <a:t>between Dire </a:t>
            </a:r>
            <a:r>
              <a:rPr lang="en-GB" sz="2400" dirty="0" err="1"/>
              <a:t>Dawa</a:t>
            </a:r>
            <a:r>
              <a:rPr lang="en-GB" sz="2400" dirty="0"/>
              <a:t> and </a:t>
            </a:r>
            <a:r>
              <a:rPr lang="en-GB" sz="2400" dirty="0" err="1"/>
              <a:t>Jigjiga</a:t>
            </a:r>
            <a:r>
              <a:rPr lang="en-GB" sz="2400" dirty="0"/>
              <a:t>) in 1506 and was raised by his devout Muslim kin in one of the oases on the route to </a:t>
            </a:r>
            <a:r>
              <a:rPr lang="en-GB" sz="2400" dirty="0" err="1"/>
              <a:t>Zeila</a:t>
            </a:r>
            <a:r>
              <a:rPr lang="en-GB" sz="2400" dirty="0"/>
              <a:t>. </a:t>
            </a:r>
            <a:endParaRPr lang="en-GB" sz="2400" dirty="0" smtClean="0"/>
          </a:p>
        </p:txBody>
      </p:sp>
    </p:spTree>
    <p:extLst>
      <p:ext uri="{BB962C8B-B14F-4D97-AF65-F5344CB8AC3E}">
        <p14:creationId xmlns:p14="http://schemas.microsoft.com/office/powerpoint/2010/main" val="8111024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6672"/>
            <a:ext cx="8229600" cy="5530619"/>
          </a:xfrm>
        </p:spPr>
        <p:txBody>
          <a:bodyPr>
            <a:normAutofit lnSpcReduction="10000"/>
          </a:bodyPr>
          <a:lstStyle/>
          <a:p>
            <a:r>
              <a:rPr lang="en-GB" sz="2800" dirty="0"/>
              <a:t> He began his military career as a soldier in the service of </a:t>
            </a:r>
            <a:r>
              <a:rPr lang="en-GB" sz="2800" b="1" dirty="0" err="1">
                <a:solidFill>
                  <a:srgbClr val="00B050"/>
                </a:solidFill>
              </a:rPr>
              <a:t>Garad</a:t>
            </a:r>
            <a:r>
              <a:rPr lang="en-GB" sz="2800" b="1" dirty="0">
                <a:solidFill>
                  <a:srgbClr val="00B050"/>
                </a:solidFill>
              </a:rPr>
              <a:t> </a:t>
            </a:r>
            <a:r>
              <a:rPr lang="en-GB" sz="2800" b="1" dirty="0" err="1">
                <a:solidFill>
                  <a:srgbClr val="00B050"/>
                </a:solidFill>
              </a:rPr>
              <a:t>Abun</a:t>
            </a:r>
            <a:r>
              <a:rPr lang="en-GB" sz="2800" b="1" dirty="0">
                <a:solidFill>
                  <a:srgbClr val="00B050"/>
                </a:solidFill>
              </a:rPr>
              <a:t> </a:t>
            </a:r>
            <a:r>
              <a:rPr lang="en-GB" sz="2800" b="1" dirty="0" err="1">
                <a:solidFill>
                  <a:srgbClr val="00B050"/>
                </a:solidFill>
              </a:rPr>
              <a:t>ibn</a:t>
            </a:r>
            <a:r>
              <a:rPr lang="en-GB" sz="2800" b="1" dirty="0">
                <a:solidFill>
                  <a:srgbClr val="00B050"/>
                </a:solidFill>
              </a:rPr>
              <a:t> </a:t>
            </a:r>
            <a:r>
              <a:rPr lang="en-GB" sz="2800" b="1" dirty="0" err="1">
                <a:solidFill>
                  <a:srgbClr val="00B050"/>
                </a:solidFill>
              </a:rPr>
              <a:t>Adash</a:t>
            </a:r>
            <a:r>
              <a:rPr lang="en-GB" sz="2800" dirty="0">
                <a:solidFill>
                  <a:srgbClr val="00B050"/>
                </a:solidFill>
              </a:rPr>
              <a:t>. </a:t>
            </a:r>
            <a:endParaRPr lang="en-GB" sz="2800" dirty="0" smtClean="0">
              <a:solidFill>
                <a:srgbClr val="00B050"/>
              </a:solidFill>
            </a:endParaRPr>
          </a:p>
          <a:p>
            <a:r>
              <a:rPr lang="en-GB" sz="2800" dirty="0" smtClean="0"/>
              <a:t> </a:t>
            </a:r>
            <a:r>
              <a:rPr lang="en-GB" sz="2800" dirty="0" err="1"/>
              <a:t>Garad</a:t>
            </a:r>
            <a:r>
              <a:rPr lang="en-GB" sz="2800" dirty="0"/>
              <a:t> </a:t>
            </a:r>
            <a:r>
              <a:rPr lang="en-GB" sz="2800" dirty="0" err="1"/>
              <a:t>Abun</a:t>
            </a:r>
            <a:r>
              <a:rPr lang="en-GB" sz="2800" dirty="0"/>
              <a:t> competed with </a:t>
            </a:r>
            <a:r>
              <a:rPr lang="en-GB" sz="2800" b="1" dirty="0">
                <a:solidFill>
                  <a:srgbClr val="00B050"/>
                </a:solidFill>
              </a:rPr>
              <a:t>Sultan </a:t>
            </a:r>
            <a:r>
              <a:rPr lang="en-GB" sz="2800" b="1" dirty="0" smtClean="0">
                <a:solidFill>
                  <a:srgbClr val="00B050"/>
                </a:solidFill>
              </a:rPr>
              <a:t>Abu </a:t>
            </a:r>
            <a:r>
              <a:rPr lang="en-GB" sz="2800" b="1" dirty="0" err="1" smtClean="0">
                <a:solidFill>
                  <a:srgbClr val="00B050"/>
                </a:solidFill>
              </a:rPr>
              <a:t>Bakr</a:t>
            </a:r>
            <a:r>
              <a:rPr lang="en-GB" sz="2800" b="1" dirty="0" smtClean="0">
                <a:solidFill>
                  <a:srgbClr val="00B050"/>
                </a:solidFill>
              </a:rPr>
              <a:t> </a:t>
            </a:r>
            <a:r>
              <a:rPr lang="en-GB" sz="2800" b="1" dirty="0" err="1">
                <a:solidFill>
                  <a:srgbClr val="00B050"/>
                </a:solidFill>
              </a:rPr>
              <a:t>ibn</a:t>
            </a:r>
            <a:r>
              <a:rPr lang="en-GB" sz="2800" b="1" dirty="0">
                <a:solidFill>
                  <a:srgbClr val="00B050"/>
                </a:solidFill>
              </a:rPr>
              <a:t> Mohammed</a:t>
            </a:r>
            <a:r>
              <a:rPr lang="en-GB" sz="2800" dirty="0"/>
              <a:t> for </a:t>
            </a:r>
            <a:r>
              <a:rPr lang="en-GB" sz="2800" dirty="0" smtClean="0"/>
              <a:t>more </a:t>
            </a:r>
            <a:r>
              <a:rPr lang="en-GB" sz="2800" dirty="0"/>
              <a:t>power and influence in </a:t>
            </a:r>
            <a:r>
              <a:rPr lang="en-GB" sz="2800" dirty="0" err="1"/>
              <a:t>Adal</a:t>
            </a:r>
            <a:r>
              <a:rPr lang="en-GB" sz="2800" dirty="0"/>
              <a:t> politics</a:t>
            </a:r>
            <a:r>
              <a:rPr lang="en-GB" sz="2800" dirty="0" smtClean="0"/>
              <a:t>.</a:t>
            </a:r>
          </a:p>
          <a:p>
            <a:r>
              <a:rPr lang="en-GB" sz="2800" dirty="0" smtClean="0"/>
              <a:t> </a:t>
            </a:r>
            <a:r>
              <a:rPr lang="en-GB" sz="2800" dirty="0" err="1"/>
              <a:t>Garad</a:t>
            </a:r>
            <a:r>
              <a:rPr lang="en-GB" sz="2800" dirty="0"/>
              <a:t> </a:t>
            </a:r>
            <a:r>
              <a:rPr lang="en-GB" sz="2800" dirty="0" err="1"/>
              <a:t>Abun</a:t>
            </a:r>
            <a:r>
              <a:rPr lang="en-GB" sz="2800" dirty="0"/>
              <a:t> was killed in a fierce battle against </a:t>
            </a:r>
            <a:r>
              <a:rPr lang="en-GB" sz="2800" b="1" dirty="0">
                <a:solidFill>
                  <a:srgbClr val="00B050"/>
                </a:solidFill>
              </a:rPr>
              <a:t>Abu </a:t>
            </a:r>
            <a:r>
              <a:rPr lang="en-GB" sz="2800" b="1" dirty="0" err="1">
                <a:solidFill>
                  <a:srgbClr val="00B050"/>
                </a:solidFill>
              </a:rPr>
              <a:t>Bakr</a:t>
            </a:r>
            <a:r>
              <a:rPr lang="en-GB" sz="2800" b="1" dirty="0">
                <a:solidFill>
                  <a:srgbClr val="00B050"/>
                </a:solidFill>
              </a:rPr>
              <a:t> </a:t>
            </a:r>
            <a:r>
              <a:rPr lang="en-GB" sz="2800" dirty="0"/>
              <a:t>in 1525, after which Imam Ahmed assumed the leadership of the opposition against the sultan. </a:t>
            </a:r>
            <a:endParaRPr lang="en-GB" sz="2800" dirty="0" smtClean="0"/>
          </a:p>
          <a:p>
            <a:pPr algn="just"/>
            <a:r>
              <a:rPr lang="en-GB" sz="2800" dirty="0" smtClean="0"/>
              <a:t>Under </a:t>
            </a:r>
            <a:r>
              <a:rPr lang="en-GB" sz="2800" dirty="0"/>
              <a:t>his command, the opposition's influence expanded, and he formed a formidable army that ultimately overthrew and killed Abu </a:t>
            </a:r>
            <a:r>
              <a:rPr lang="en-GB" sz="2800" dirty="0" err="1"/>
              <a:t>Bakr</a:t>
            </a:r>
            <a:r>
              <a:rPr lang="en-GB" sz="2800" dirty="0"/>
              <a:t> in 1527</a:t>
            </a:r>
            <a:r>
              <a:rPr lang="en-GB" sz="2800" b="1" dirty="0"/>
              <a:t>. </a:t>
            </a:r>
          </a:p>
          <a:p>
            <a:endParaRPr lang="en-GB" dirty="0"/>
          </a:p>
        </p:txBody>
      </p:sp>
    </p:spTree>
    <p:extLst>
      <p:ext uri="{BB962C8B-B14F-4D97-AF65-F5344CB8AC3E}">
        <p14:creationId xmlns:p14="http://schemas.microsoft.com/office/powerpoint/2010/main" val="39566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92696"/>
            <a:ext cx="8229600" cy="5314595"/>
          </a:xfrm>
        </p:spPr>
        <p:txBody>
          <a:bodyPr>
            <a:normAutofit fontScale="92500" lnSpcReduction="20000"/>
          </a:bodyPr>
          <a:lstStyle/>
          <a:p>
            <a:r>
              <a:rPr lang="en-GB" dirty="0"/>
              <a:t>After the imam‘s rise to power, the battles were fought not just for control of the long-distance trade route, but also and mainly to solve </a:t>
            </a:r>
            <a:r>
              <a:rPr lang="en-GB" b="1" dirty="0">
                <a:solidFill>
                  <a:srgbClr val="00B050"/>
                </a:solidFill>
              </a:rPr>
              <a:t>environmental pressure on the Afar and Somali </a:t>
            </a:r>
            <a:r>
              <a:rPr lang="en-GB" dirty="0">
                <a:solidFill>
                  <a:srgbClr val="00B050"/>
                </a:solidFill>
              </a:rPr>
              <a:t>pastoralists, </a:t>
            </a:r>
            <a:r>
              <a:rPr lang="en-GB" dirty="0"/>
              <a:t>who were pushing towards </a:t>
            </a:r>
            <a:r>
              <a:rPr lang="en-GB" dirty="0" err="1">
                <a:solidFill>
                  <a:srgbClr val="00B050"/>
                </a:solidFill>
              </a:rPr>
              <a:t>Harar</a:t>
            </a:r>
            <a:r>
              <a:rPr lang="en-GB" dirty="0"/>
              <a:t> and into the riches of the </a:t>
            </a:r>
            <a:r>
              <a:rPr lang="en-GB" b="1" dirty="0">
                <a:solidFill>
                  <a:srgbClr val="00B050"/>
                </a:solidFill>
              </a:rPr>
              <a:t>highland Christian Kingdom. </a:t>
            </a:r>
            <a:endParaRPr lang="en-GB" b="1" dirty="0" smtClean="0">
              <a:solidFill>
                <a:srgbClr val="00B050"/>
              </a:solidFill>
            </a:endParaRPr>
          </a:p>
          <a:p>
            <a:r>
              <a:rPr lang="en-GB" dirty="0" smtClean="0"/>
              <a:t>Lowland </a:t>
            </a:r>
            <a:r>
              <a:rPr lang="en-GB" dirty="0"/>
              <a:t>Muslim pastoralists wanted to expand to high plateaus for </a:t>
            </a:r>
            <a:r>
              <a:rPr lang="en-GB" b="1" dirty="0">
                <a:solidFill>
                  <a:srgbClr val="00B050"/>
                </a:solidFill>
              </a:rPr>
              <a:t>better and more pastureland because of increased population and overgrazing. </a:t>
            </a:r>
            <a:endParaRPr lang="en-GB" b="1" dirty="0" smtClean="0">
              <a:solidFill>
                <a:srgbClr val="00B050"/>
              </a:solidFill>
            </a:endParaRPr>
          </a:p>
          <a:p>
            <a:r>
              <a:rPr lang="en-GB" dirty="0" smtClean="0"/>
              <a:t>This </a:t>
            </a:r>
            <a:r>
              <a:rPr lang="en-GB" dirty="0"/>
              <a:t>led to the intensification of the longstanding conflict between the Christian Kingdom and Muslim principalities while at the same time resulting in fighting among the pastoralist groups. </a:t>
            </a:r>
          </a:p>
        </p:txBody>
      </p:sp>
    </p:spTree>
    <p:extLst>
      <p:ext uri="{BB962C8B-B14F-4D97-AF65-F5344CB8AC3E}">
        <p14:creationId xmlns:p14="http://schemas.microsoft.com/office/powerpoint/2010/main" val="2812349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8640"/>
            <a:ext cx="8229600" cy="5818651"/>
          </a:xfrm>
        </p:spPr>
        <p:txBody>
          <a:bodyPr>
            <a:normAutofit fontScale="92500" lnSpcReduction="20000"/>
          </a:bodyPr>
          <a:lstStyle/>
          <a:p>
            <a:endParaRPr lang="en-GB" dirty="0" smtClean="0"/>
          </a:p>
          <a:p>
            <a:r>
              <a:rPr lang="en-GB" dirty="0" smtClean="0"/>
              <a:t>After </a:t>
            </a:r>
            <a:r>
              <a:rPr lang="en-GB" dirty="0"/>
              <a:t>the imam‘s rise to power, the battles were fought not just for control of the long-distance trade route, but also and mainly </a:t>
            </a:r>
            <a:r>
              <a:rPr lang="en-GB" b="1" dirty="0">
                <a:solidFill>
                  <a:srgbClr val="00B050"/>
                </a:solidFill>
              </a:rPr>
              <a:t>to solve environmental pressure </a:t>
            </a:r>
            <a:r>
              <a:rPr lang="en-GB" dirty="0"/>
              <a:t>on the Afar and Somali pastoralists, who were pushing towards </a:t>
            </a:r>
            <a:r>
              <a:rPr lang="en-GB" dirty="0" err="1">
                <a:solidFill>
                  <a:srgbClr val="00B050"/>
                </a:solidFill>
              </a:rPr>
              <a:t>Harar</a:t>
            </a:r>
            <a:r>
              <a:rPr lang="en-GB" dirty="0"/>
              <a:t> and into the </a:t>
            </a:r>
            <a:r>
              <a:rPr lang="en-GB" b="1" dirty="0">
                <a:solidFill>
                  <a:srgbClr val="00B050"/>
                </a:solidFill>
              </a:rPr>
              <a:t>riches of the highland Christian Kingdom</a:t>
            </a:r>
            <a:r>
              <a:rPr lang="en-GB" b="1" dirty="0" smtClean="0">
                <a:solidFill>
                  <a:srgbClr val="00B050"/>
                </a:solidFill>
              </a:rPr>
              <a:t>.</a:t>
            </a:r>
          </a:p>
          <a:p>
            <a:r>
              <a:rPr lang="en-GB" dirty="0" smtClean="0"/>
              <a:t> </a:t>
            </a:r>
            <a:r>
              <a:rPr lang="en-GB" dirty="0"/>
              <a:t>Lowland Muslim pastoralists wanted to expand to high plateaus for</a:t>
            </a:r>
            <a:r>
              <a:rPr lang="en-GB" b="1" dirty="0"/>
              <a:t> </a:t>
            </a:r>
            <a:r>
              <a:rPr lang="en-GB" b="1" dirty="0">
                <a:solidFill>
                  <a:srgbClr val="00B050"/>
                </a:solidFill>
              </a:rPr>
              <a:t>better and more pastureland because of increased population </a:t>
            </a:r>
            <a:r>
              <a:rPr lang="en-GB" b="1" dirty="0" smtClean="0">
                <a:solidFill>
                  <a:srgbClr val="00B050"/>
                </a:solidFill>
              </a:rPr>
              <a:t>and overgrazing.</a:t>
            </a:r>
          </a:p>
          <a:p>
            <a:r>
              <a:rPr lang="en-GB" dirty="0" smtClean="0"/>
              <a:t> </a:t>
            </a:r>
            <a:r>
              <a:rPr lang="en-GB" dirty="0"/>
              <a:t>This led to the intensification of the longstanding conflict between the Christian Kingdom and Muslim principalities while at the same time resulting in fighting among the pastoralist groups. </a:t>
            </a:r>
          </a:p>
        </p:txBody>
      </p:sp>
    </p:spTree>
    <p:extLst>
      <p:ext uri="{BB962C8B-B14F-4D97-AF65-F5344CB8AC3E}">
        <p14:creationId xmlns:p14="http://schemas.microsoft.com/office/powerpoint/2010/main" val="384809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fontScale="92500" lnSpcReduction="10000"/>
          </a:bodyPr>
          <a:lstStyle/>
          <a:p>
            <a:r>
              <a:rPr lang="en-GB" dirty="0"/>
              <a:t>A hallmark of Imam Ahmed‘s leadership ability was such that he mobilized </a:t>
            </a:r>
            <a:r>
              <a:rPr lang="en-GB" b="1" dirty="0">
                <a:solidFill>
                  <a:srgbClr val="00B050"/>
                </a:solidFill>
              </a:rPr>
              <a:t>the Afar, the Somali, </a:t>
            </a:r>
            <a:r>
              <a:rPr lang="en-GB" b="1" dirty="0" err="1">
                <a:solidFill>
                  <a:srgbClr val="00B050"/>
                </a:solidFill>
              </a:rPr>
              <a:t>Argobba</a:t>
            </a:r>
            <a:r>
              <a:rPr lang="en-GB" b="1" dirty="0">
                <a:solidFill>
                  <a:srgbClr val="00B050"/>
                </a:solidFill>
              </a:rPr>
              <a:t>, </a:t>
            </a:r>
            <a:r>
              <a:rPr lang="en-GB" b="1" dirty="0" err="1">
                <a:solidFill>
                  <a:srgbClr val="00B050"/>
                </a:solidFill>
              </a:rPr>
              <a:t>Harla</a:t>
            </a:r>
            <a:r>
              <a:rPr lang="en-GB" b="1" dirty="0">
                <a:solidFill>
                  <a:srgbClr val="00B050"/>
                </a:solidFill>
              </a:rPr>
              <a:t>, </a:t>
            </a:r>
            <a:r>
              <a:rPr lang="en-GB" b="1" dirty="0" err="1">
                <a:solidFill>
                  <a:srgbClr val="00B050"/>
                </a:solidFill>
              </a:rPr>
              <a:t>Harari</a:t>
            </a:r>
            <a:r>
              <a:rPr lang="en-GB" b="1" dirty="0">
                <a:solidFill>
                  <a:srgbClr val="00B050"/>
                </a:solidFill>
              </a:rPr>
              <a:t> and many others </a:t>
            </a:r>
            <a:r>
              <a:rPr lang="en-GB" dirty="0"/>
              <a:t>for a common cause</a:t>
            </a:r>
            <a:r>
              <a:rPr lang="en-GB" dirty="0" smtClean="0"/>
              <a:t>.</a:t>
            </a:r>
          </a:p>
          <a:p>
            <a:r>
              <a:rPr lang="en-GB" dirty="0" smtClean="0"/>
              <a:t> </a:t>
            </a:r>
            <a:r>
              <a:rPr lang="en-GB" dirty="0"/>
              <a:t>The imam had the support of </a:t>
            </a:r>
            <a:r>
              <a:rPr lang="en-GB" b="1" dirty="0">
                <a:solidFill>
                  <a:srgbClr val="00B050"/>
                </a:solidFill>
              </a:rPr>
              <a:t>religious leaders </a:t>
            </a:r>
            <a:r>
              <a:rPr lang="en-GB" dirty="0"/>
              <a:t>in his effort to bring peace among the various fighting groups</a:t>
            </a:r>
            <a:r>
              <a:rPr lang="en-GB" dirty="0" smtClean="0"/>
              <a:t>.</a:t>
            </a:r>
          </a:p>
          <a:p>
            <a:r>
              <a:rPr lang="en-GB" dirty="0" smtClean="0"/>
              <a:t> </a:t>
            </a:r>
            <a:r>
              <a:rPr lang="en-GB" dirty="0"/>
              <a:t>He persuaded the groups </a:t>
            </a:r>
            <a:r>
              <a:rPr lang="en-GB" b="1" dirty="0">
                <a:solidFill>
                  <a:srgbClr val="00B050"/>
                </a:solidFill>
              </a:rPr>
              <a:t>not to fight amongst themselves but to unite and expand to the Christian Kingdom and resolve their pressing material needs and at the same time gain salvation by fighting </a:t>
            </a:r>
            <a:r>
              <a:rPr lang="en-GB" b="1" dirty="0" smtClean="0">
                <a:solidFill>
                  <a:srgbClr val="00B050"/>
                </a:solidFill>
              </a:rPr>
              <a:t>non Muslims</a:t>
            </a:r>
            <a:r>
              <a:rPr lang="en-GB" b="1" dirty="0"/>
              <a:t>. </a:t>
            </a:r>
            <a:endParaRPr lang="en-GB" b="1" dirty="0" smtClean="0"/>
          </a:p>
          <a:p>
            <a:r>
              <a:rPr lang="en-GB" dirty="0" smtClean="0"/>
              <a:t>Thus</a:t>
            </a:r>
            <a:r>
              <a:rPr lang="en-GB" dirty="0"/>
              <a:t>, the war for territorial expansion came to assume </a:t>
            </a:r>
            <a:r>
              <a:rPr lang="en-GB" b="1" dirty="0">
                <a:solidFill>
                  <a:srgbClr val="00B050"/>
                </a:solidFill>
              </a:rPr>
              <a:t>a religious character</a:t>
            </a:r>
            <a:r>
              <a:rPr lang="en-GB" dirty="0"/>
              <a:t>. </a:t>
            </a:r>
          </a:p>
        </p:txBody>
      </p:sp>
    </p:spTree>
    <p:extLst>
      <p:ext uri="{BB962C8B-B14F-4D97-AF65-F5344CB8AC3E}">
        <p14:creationId xmlns:p14="http://schemas.microsoft.com/office/powerpoint/2010/main" val="3746528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92696"/>
            <a:ext cx="8229600" cy="5314595"/>
          </a:xfrm>
        </p:spPr>
        <p:txBody>
          <a:bodyPr>
            <a:normAutofit fontScale="92500" lnSpcReduction="10000"/>
          </a:bodyPr>
          <a:lstStyle/>
          <a:p>
            <a:pPr algn="just"/>
            <a:r>
              <a:rPr lang="en-GB" dirty="0"/>
              <a:t>After a long and thorough preparation of the army, the imam launched his offensive against the frontier </a:t>
            </a:r>
            <a:r>
              <a:rPr lang="en-GB" dirty="0" err="1"/>
              <a:t>defenses</a:t>
            </a:r>
            <a:r>
              <a:rPr lang="en-GB" dirty="0"/>
              <a:t> of the Christian Kingdom in 1527 and controlled </a:t>
            </a:r>
            <a:r>
              <a:rPr lang="en-GB" b="1" dirty="0">
                <a:solidFill>
                  <a:srgbClr val="00B050"/>
                </a:solidFill>
              </a:rPr>
              <a:t>Bali, </a:t>
            </a:r>
            <a:r>
              <a:rPr lang="en-GB" b="1" dirty="0" err="1">
                <a:solidFill>
                  <a:srgbClr val="00B050"/>
                </a:solidFill>
              </a:rPr>
              <a:t>Dawaro</a:t>
            </a:r>
            <a:r>
              <a:rPr lang="en-GB" b="1" dirty="0">
                <a:solidFill>
                  <a:srgbClr val="00B050"/>
                </a:solidFill>
              </a:rPr>
              <a:t>, </a:t>
            </a:r>
            <a:r>
              <a:rPr lang="en-GB" b="1" dirty="0" err="1">
                <a:solidFill>
                  <a:srgbClr val="00B050"/>
                </a:solidFill>
              </a:rPr>
              <a:t>Fatagar</a:t>
            </a:r>
            <a:r>
              <a:rPr lang="en-GB" b="1" dirty="0">
                <a:solidFill>
                  <a:srgbClr val="00B050"/>
                </a:solidFill>
              </a:rPr>
              <a:t>, </a:t>
            </a:r>
            <a:r>
              <a:rPr lang="en-GB" b="1" dirty="0" err="1">
                <a:solidFill>
                  <a:srgbClr val="00B050"/>
                </a:solidFill>
              </a:rPr>
              <a:t>Sidama</a:t>
            </a:r>
            <a:r>
              <a:rPr lang="en-GB" b="1" dirty="0">
                <a:solidFill>
                  <a:srgbClr val="00B050"/>
                </a:solidFill>
              </a:rPr>
              <a:t>, </a:t>
            </a:r>
            <a:r>
              <a:rPr lang="en-GB" b="1" dirty="0" err="1">
                <a:solidFill>
                  <a:srgbClr val="00B050"/>
                </a:solidFill>
              </a:rPr>
              <a:t>Hadiya</a:t>
            </a:r>
            <a:r>
              <a:rPr lang="en-GB" b="1" dirty="0">
                <a:solidFill>
                  <a:srgbClr val="00B050"/>
                </a:solidFill>
              </a:rPr>
              <a:t>, and </a:t>
            </a:r>
            <a:r>
              <a:rPr lang="en-GB" b="1" dirty="0" err="1">
                <a:solidFill>
                  <a:srgbClr val="00B050"/>
                </a:solidFill>
              </a:rPr>
              <a:t>Kambata</a:t>
            </a:r>
            <a:r>
              <a:rPr lang="en-GB" b="1" dirty="0">
                <a:solidFill>
                  <a:srgbClr val="00B050"/>
                </a:solidFill>
              </a:rPr>
              <a:t>. </a:t>
            </a:r>
            <a:endParaRPr lang="en-GB" b="1" dirty="0" smtClean="0">
              <a:solidFill>
                <a:srgbClr val="00B050"/>
              </a:solidFill>
            </a:endParaRPr>
          </a:p>
          <a:p>
            <a:pPr algn="just"/>
            <a:r>
              <a:rPr lang="en-GB" dirty="0" smtClean="0"/>
              <a:t>This </a:t>
            </a:r>
            <a:r>
              <a:rPr lang="en-GB" dirty="0"/>
              <a:t>was partly facilitated by the significant presence there of Muslim communities, who welcomed the Muslim governors appointed by Imam Ahmed. </a:t>
            </a:r>
            <a:endParaRPr lang="en-GB" dirty="0" smtClean="0"/>
          </a:p>
          <a:p>
            <a:pPr algn="just"/>
            <a:r>
              <a:rPr lang="en-GB" dirty="0" smtClean="0"/>
              <a:t>Realizing </a:t>
            </a:r>
            <a:r>
              <a:rPr lang="en-GB" dirty="0"/>
              <a:t>the rising threat, </a:t>
            </a:r>
            <a:r>
              <a:rPr lang="en-GB" b="1" dirty="0">
                <a:solidFill>
                  <a:srgbClr val="00B050"/>
                </a:solidFill>
              </a:rPr>
              <a:t>Emperor </a:t>
            </a:r>
            <a:r>
              <a:rPr lang="en-GB" b="1" dirty="0" err="1">
                <a:solidFill>
                  <a:srgbClr val="00B050"/>
                </a:solidFill>
              </a:rPr>
              <a:t>Lebne-Dengel</a:t>
            </a:r>
            <a:r>
              <a:rPr lang="en-GB" b="1" dirty="0">
                <a:solidFill>
                  <a:srgbClr val="00B050"/>
                </a:solidFill>
              </a:rPr>
              <a:t> mobilized a vast force from his domains </a:t>
            </a:r>
            <a:r>
              <a:rPr lang="en-GB" dirty="0">
                <a:solidFill>
                  <a:srgbClr val="00B050"/>
                </a:solidFill>
              </a:rPr>
              <a:t>in 1528 </a:t>
            </a:r>
            <a:r>
              <a:rPr lang="en-GB" dirty="0"/>
              <a:t>and </a:t>
            </a:r>
            <a:r>
              <a:rPr lang="en-GB" b="1" dirty="0">
                <a:solidFill>
                  <a:srgbClr val="00B050"/>
                </a:solidFill>
              </a:rPr>
              <a:t>encamped about fifty </a:t>
            </a:r>
            <a:r>
              <a:rPr lang="en-GB" b="1" dirty="0" err="1">
                <a:solidFill>
                  <a:srgbClr val="00B050"/>
                </a:solidFill>
              </a:rPr>
              <a:t>kilometers</a:t>
            </a:r>
            <a:r>
              <a:rPr lang="en-GB" b="1" dirty="0">
                <a:solidFill>
                  <a:srgbClr val="00B050"/>
                </a:solidFill>
              </a:rPr>
              <a:t> east of what is now Addis Ababa</a:t>
            </a:r>
            <a:r>
              <a:rPr lang="en-GB" b="1" dirty="0" smtClean="0">
                <a:solidFill>
                  <a:srgbClr val="00B050"/>
                </a:solidFill>
              </a:rPr>
              <a:t>.</a:t>
            </a:r>
          </a:p>
          <a:p>
            <a:r>
              <a:rPr lang="en-GB" dirty="0" smtClean="0"/>
              <a:t> </a:t>
            </a:r>
            <a:endParaRPr lang="en-GB" dirty="0"/>
          </a:p>
        </p:txBody>
      </p:sp>
    </p:spTree>
    <p:extLst>
      <p:ext uri="{BB962C8B-B14F-4D97-AF65-F5344CB8AC3E}">
        <p14:creationId xmlns:p14="http://schemas.microsoft.com/office/powerpoint/2010/main" val="281272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32656"/>
            <a:ext cx="8229600" cy="5674635"/>
          </a:xfrm>
        </p:spPr>
        <p:txBody>
          <a:bodyPr>
            <a:normAutofit lnSpcReduction="10000"/>
          </a:bodyPr>
          <a:lstStyle/>
          <a:p>
            <a:r>
              <a:rPr lang="en-GB" dirty="0"/>
              <a:t>However, his numerically superior force was dispersed by Imam Ahmed‘s small army at the </a:t>
            </a:r>
            <a:r>
              <a:rPr lang="en-GB" b="1" dirty="0">
                <a:solidFill>
                  <a:srgbClr val="00B050"/>
                </a:solidFill>
              </a:rPr>
              <a:t>Battle of </a:t>
            </a:r>
            <a:r>
              <a:rPr lang="en-GB" b="1" dirty="0" err="1">
                <a:solidFill>
                  <a:srgbClr val="00B050"/>
                </a:solidFill>
              </a:rPr>
              <a:t>Shimbra</a:t>
            </a:r>
            <a:r>
              <a:rPr lang="en-GB" b="1" dirty="0">
                <a:solidFill>
                  <a:srgbClr val="00B050"/>
                </a:solidFill>
              </a:rPr>
              <a:t> Kure in 1529</a:t>
            </a:r>
            <a:r>
              <a:rPr lang="en-GB" dirty="0"/>
              <a:t>, near present-day Mojo. </a:t>
            </a:r>
            <a:endParaRPr lang="en-GB" dirty="0" smtClean="0"/>
          </a:p>
          <a:p>
            <a:r>
              <a:rPr lang="en-GB" dirty="0" smtClean="0"/>
              <a:t>In </a:t>
            </a:r>
            <a:r>
              <a:rPr lang="en-GB" dirty="0"/>
              <a:t>addition to </a:t>
            </a:r>
            <a:r>
              <a:rPr lang="en-GB" b="1" dirty="0">
                <a:solidFill>
                  <a:srgbClr val="00B050"/>
                </a:solidFill>
              </a:rPr>
              <a:t>logistical problems</a:t>
            </a:r>
            <a:r>
              <a:rPr lang="en-GB" dirty="0"/>
              <a:t>, the leadership of the army of the Christian Kingdom </a:t>
            </a:r>
            <a:r>
              <a:rPr lang="en-GB" b="1" dirty="0">
                <a:solidFill>
                  <a:srgbClr val="00B050"/>
                </a:solidFill>
              </a:rPr>
              <a:t>failed to adopt a common strategy to defeat </a:t>
            </a:r>
            <a:r>
              <a:rPr lang="en-GB" b="1" dirty="0" err="1">
                <a:solidFill>
                  <a:srgbClr val="00B050"/>
                </a:solidFill>
              </a:rPr>
              <a:t>Adal‘s</a:t>
            </a:r>
            <a:r>
              <a:rPr lang="en-GB" b="1" dirty="0">
                <a:solidFill>
                  <a:srgbClr val="00B050"/>
                </a:solidFill>
              </a:rPr>
              <a:t> force</a:t>
            </a:r>
            <a:r>
              <a:rPr lang="en-GB" dirty="0"/>
              <a:t>. </a:t>
            </a:r>
            <a:endParaRPr lang="en-GB" dirty="0" smtClean="0"/>
          </a:p>
          <a:p>
            <a:r>
              <a:rPr lang="en-GB" dirty="0" smtClean="0"/>
              <a:t>On </a:t>
            </a:r>
            <a:r>
              <a:rPr lang="en-GB" dirty="0"/>
              <a:t>the other hand, Imam Ahmed's highly motivated but small-sized army faced no such logistical challenges. </a:t>
            </a:r>
            <a:endParaRPr lang="en-GB" dirty="0" smtClean="0"/>
          </a:p>
          <a:p>
            <a:pPr algn="just"/>
            <a:r>
              <a:rPr lang="en-GB" dirty="0" smtClean="0"/>
              <a:t>The </a:t>
            </a:r>
            <a:r>
              <a:rPr lang="en-GB" dirty="0"/>
              <a:t>imam‘s army had also </a:t>
            </a:r>
            <a:r>
              <a:rPr lang="en-GB" b="1" dirty="0">
                <a:solidFill>
                  <a:srgbClr val="00B050"/>
                </a:solidFill>
              </a:rPr>
              <a:t>an excellent leadership characterized by better mobility and flexible tactics with a unified command</a:t>
            </a:r>
            <a:r>
              <a:rPr lang="en-GB" dirty="0"/>
              <a:t>.</a:t>
            </a:r>
          </a:p>
          <a:p>
            <a:endParaRPr lang="en-GB" dirty="0"/>
          </a:p>
        </p:txBody>
      </p:sp>
    </p:spTree>
    <p:extLst>
      <p:ext uri="{BB962C8B-B14F-4D97-AF65-F5344CB8AC3E}">
        <p14:creationId xmlns:p14="http://schemas.microsoft.com/office/powerpoint/2010/main" val="403670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1520" y="260648"/>
            <a:ext cx="8229600" cy="5256584"/>
          </a:xfrm>
        </p:spPr>
        <p:txBody>
          <a:bodyPr>
            <a:normAutofit fontScale="85000" lnSpcReduction="10000"/>
          </a:bodyPr>
          <a:lstStyle/>
          <a:p>
            <a:r>
              <a:rPr lang="en-GB" dirty="0"/>
              <a:t>A</a:t>
            </a:r>
            <a:r>
              <a:rPr lang="en-GB" dirty="0" smtClean="0"/>
              <a:t>fter   the Battle of </a:t>
            </a:r>
            <a:r>
              <a:rPr lang="en-GB" dirty="0" err="1" smtClean="0"/>
              <a:t>Shimbura</a:t>
            </a:r>
            <a:r>
              <a:rPr lang="en-GB" dirty="0" smtClean="0"/>
              <a:t> Kure , within a span of Less than two years,   </a:t>
            </a:r>
            <a:r>
              <a:rPr lang="en-GB" dirty="0"/>
              <a:t>Imam Ahmed's army </a:t>
            </a:r>
            <a:r>
              <a:rPr lang="en-GB" dirty="0" smtClean="0"/>
              <a:t> </a:t>
            </a:r>
            <a:r>
              <a:rPr lang="en-GB" dirty="0"/>
              <a:t>successfully gained control over </a:t>
            </a:r>
            <a:r>
              <a:rPr lang="en-GB" b="1" dirty="0" err="1">
                <a:solidFill>
                  <a:srgbClr val="00B050"/>
                </a:solidFill>
              </a:rPr>
              <a:t>Lasta</a:t>
            </a:r>
            <a:r>
              <a:rPr lang="en-GB" b="1" dirty="0">
                <a:solidFill>
                  <a:srgbClr val="00B050"/>
                </a:solidFill>
              </a:rPr>
              <a:t>, </a:t>
            </a:r>
            <a:r>
              <a:rPr lang="en-GB" b="1" dirty="0" err="1">
                <a:solidFill>
                  <a:srgbClr val="00B050"/>
                </a:solidFill>
              </a:rPr>
              <a:t>Bagemedir</a:t>
            </a:r>
            <a:r>
              <a:rPr lang="en-GB" b="1" dirty="0">
                <a:solidFill>
                  <a:srgbClr val="00B050"/>
                </a:solidFill>
              </a:rPr>
              <a:t>, </a:t>
            </a:r>
            <a:r>
              <a:rPr lang="en-GB" b="1" dirty="0" err="1">
                <a:solidFill>
                  <a:srgbClr val="00B050"/>
                </a:solidFill>
              </a:rPr>
              <a:t>Dembiya</a:t>
            </a:r>
            <a:r>
              <a:rPr lang="en-GB" b="1" dirty="0">
                <a:solidFill>
                  <a:srgbClr val="00B050"/>
                </a:solidFill>
              </a:rPr>
              <a:t>, and </a:t>
            </a:r>
            <a:r>
              <a:rPr lang="en-GB" b="1" dirty="0" err="1" smtClean="0">
                <a:solidFill>
                  <a:srgbClr val="00B050"/>
                </a:solidFill>
              </a:rPr>
              <a:t>Tigray</a:t>
            </a:r>
            <a:r>
              <a:rPr lang="en-GB" dirty="0" smtClean="0"/>
              <a:t>.</a:t>
            </a:r>
          </a:p>
          <a:p>
            <a:r>
              <a:rPr lang="en-GB" dirty="0" smtClean="0"/>
              <a:t>By </a:t>
            </a:r>
            <a:r>
              <a:rPr lang="en-GB" dirty="0"/>
              <a:t>1535, </a:t>
            </a:r>
            <a:r>
              <a:rPr lang="en-GB" dirty="0" err="1"/>
              <a:t>Adal</a:t>
            </a:r>
            <a:r>
              <a:rPr lang="en-GB" dirty="0"/>
              <a:t> had dominion over a significant portion of the Christian territory, including strategic regions. </a:t>
            </a:r>
            <a:endParaRPr lang="en-GB" dirty="0" smtClean="0"/>
          </a:p>
          <a:p>
            <a:r>
              <a:rPr lang="en-GB" dirty="0" smtClean="0"/>
              <a:t>As </a:t>
            </a:r>
            <a:r>
              <a:rPr lang="en-GB" dirty="0"/>
              <a:t>he penetrated deep into the Christian Kingdom, Imam Ahmed established a civil administrative bureaucracy composed of his own men and newly recruited personnel from the Christian territories. </a:t>
            </a:r>
            <a:endParaRPr lang="en-GB" dirty="0" smtClean="0"/>
          </a:p>
          <a:p>
            <a:r>
              <a:rPr lang="en-GB" b="1" dirty="0" err="1" smtClean="0">
                <a:solidFill>
                  <a:srgbClr val="00B050"/>
                </a:solidFill>
              </a:rPr>
              <a:t>Mahfuz‘s</a:t>
            </a:r>
            <a:r>
              <a:rPr lang="en-GB" b="1" dirty="0" smtClean="0">
                <a:solidFill>
                  <a:srgbClr val="00B050"/>
                </a:solidFill>
              </a:rPr>
              <a:t> </a:t>
            </a:r>
            <a:r>
              <a:rPr lang="en-GB" b="1" dirty="0">
                <a:solidFill>
                  <a:srgbClr val="00B050"/>
                </a:solidFill>
              </a:rPr>
              <a:t>daughter </a:t>
            </a:r>
            <a:r>
              <a:rPr lang="en-GB" dirty="0"/>
              <a:t>and </a:t>
            </a:r>
            <a:r>
              <a:rPr lang="en-GB" dirty="0">
                <a:solidFill>
                  <a:srgbClr val="00B050"/>
                </a:solidFill>
              </a:rPr>
              <a:t>Imam Ahmed‘s wife</a:t>
            </a:r>
            <a:r>
              <a:rPr lang="en-GB" dirty="0"/>
              <a:t>, </a:t>
            </a:r>
            <a:r>
              <a:rPr lang="en-GB" b="1" dirty="0" err="1">
                <a:solidFill>
                  <a:srgbClr val="00B050"/>
                </a:solidFill>
              </a:rPr>
              <a:t>Bati</a:t>
            </a:r>
            <a:r>
              <a:rPr lang="en-GB" b="1" dirty="0">
                <a:solidFill>
                  <a:srgbClr val="00B050"/>
                </a:solidFill>
              </a:rPr>
              <a:t> (also known as </a:t>
            </a:r>
            <a:r>
              <a:rPr lang="en-GB" b="1" dirty="0" err="1">
                <a:solidFill>
                  <a:srgbClr val="00B050"/>
                </a:solidFill>
              </a:rPr>
              <a:t>Batya</a:t>
            </a:r>
            <a:r>
              <a:rPr lang="en-GB" b="1" dirty="0">
                <a:solidFill>
                  <a:srgbClr val="00B050"/>
                </a:solidFill>
              </a:rPr>
              <a:t>) Del </a:t>
            </a:r>
            <a:r>
              <a:rPr lang="en-GB" b="1" dirty="0" err="1">
                <a:solidFill>
                  <a:srgbClr val="00B050"/>
                </a:solidFill>
              </a:rPr>
              <a:t>Wanbara</a:t>
            </a:r>
            <a:r>
              <a:rPr lang="en-GB" dirty="0"/>
              <a:t>, who had encouraged her husband to wage the war </a:t>
            </a:r>
            <a:r>
              <a:rPr lang="en-GB" b="1" dirty="0">
                <a:solidFill>
                  <a:srgbClr val="00B050"/>
                </a:solidFill>
              </a:rPr>
              <a:t>in order to avenge the death of her father</a:t>
            </a:r>
            <a:r>
              <a:rPr lang="en-GB" dirty="0"/>
              <a:t>, accompanied her husband throughout his expeditions as far north as </a:t>
            </a:r>
            <a:r>
              <a:rPr lang="en-GB" dirty="0" err="1"/>
              <a:t>Tigray</a:t>
            </a:r>
            <a:r>
              <a:rPr lang="en-GB" dirty="0"/>
              <a:t>.</a:t>
            </a:r>
          </a:p>
        </p:txBody>
      </p:sp>
    </p:spTree>
    <p:extLst>
      <p:ext uri="{BB962C8B-B14F-4D97-AF65-F5344CB8AC3E}">
        <p14:creationId xmlns:p14="http://schemas.microsoft.com/office/powerpoint/2010/main" val="2518703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88640"/>
            <a:ext cx="8568952" cy="6106683"/>
          </a:xfrm>
        </p:spPr>
        <p:txBody>
          <a:bodyPr>
            <a:noAutofit/>
          </a:bodyPr>
          <a:lstStyle/>
          <a:p>
            <a:r>
              <a:rPr lang="en-GB" sz="2400" dirty="0" smtClean="0"/>
              <a:t>The military setback forced </a:t>
            </a:r>
            <a:r>
              <a:rPr lang="en-GB" sz="2400" dirty="0" err="1" smtClean="0"/>
              <a:t>Lebne-Dengel</a:t>
            </a:r>
            <a:r>
              <a:rPr lang="en-GB" sz="2400" dirty="0" smtClean="0"/>
              <a:t> </a:t>
            </a:r>
            <a:r>
              <a:rPr lang="en-GB" sz="2400" dirty="0"/>
              <a:t>to retreat, finally </a:t>
            </a:r>
            <a:r>
              <a:rPr lang="en-GB" sz="2400" b="1" dirty="0">
                <a:solidFill>
                  <a:srgbClr val="00B050"/>
                </a:solidFill>
              </a:rPr>
              <a:t>dying in 1540 as a fugitive</a:t>
            </a:r>
            <a:r>
              <a:rPr lang="en-GB" sz="2400" dirty="0"/>
              <a:t>. </a:t>
            </a:r>
            <a:endParaRPr lang="en-GB" sz="2400" dirty="0" smtClean="0"/>
          </a:p>
          <a:p>
            <a:r>
              <a:rPr lang="en-GB" sz="2400" dirty="0" smtClean="0"/>
              <a:t>His </a:t>
            </a:r>
            <a:r>
              <a:rPr lang="en-GB" sz="2400" dirty="0"/>
              <a:t>son and successor, </a:t>
            </a:r>
            <a:r>
              <a:rPr lang="en-GB" sz="2400" b="1" dirty="0" err="1">
                <a:solidFill>
                  <a:srgbClr val="00B050"/>
                </a:solidFill>
              </a:rPr>
              <a:t>Gelawdewos</a:t>
            </a:r>
            <a:r>
              <a:rPr lang="en-GB" sz="2400" b="1" dirty="0">
                <a:solidFill>
                  <a:srgbClr val="00B050"/>
                </a:solidFill>
              </a:rPr>
              <a:t> (r. 1540-59), </a:t>
            </a:r>
            <a:r>
              <a:rPr lang="en-GB" sz="2400" dirty="0"/>
              <a:t>continued to face a more intensified war as Imam Ahmed had received </a:t>
            </a:r>
            <a:r>
              <a:rPr lang="en-GB" sz="2400" b="1" dirty="0">
                <a:solidFill>
                  <a:srgbClr val="00B050"/>
                </a:solidFill>
              </a:rPr>
              <a:t>two hundred Muslim Turkish musketeers </a:t>
            </a:r>
            <a:r>
              <a:rPr lang="en-GB" sz="2400" dirty="0"/>
              <a:t>and </a:t>
            </a:r>
            <a:r>
              <a:rPr lang="en-GB" sz="2400" b="1" dirty="0">
                <a:solidFill>
                  <a:srgbClr val="00B050"/>
                </a:solidFill>
              </a:rPr>
              <a:t>ten cannons in 1541</a:t>
            </a:r>
            <a:r>
              <a:rPr lang="en-GB" sz="2400" dirty="0"/>
              <a:t>. </a:t>
            </a:r>
            <a:endParaRPr lang="en-GB" sz="2400" dirty="0" smtClean="0"/>
          </a:p>
          <a:p>
            <a:r>
              <a:rPr lang="en-GB" sz="2400" dirty="0" smtClean="0"/>
              <a:t>In the meantime</a:t>
            </a:r>
            <a:r>
              <a:rPr lang="en-GB" sz="2400" dirty="0"/>
              <a:t>, in response to an earlier request made by </a:t>
            </a:r>
            <a:r>
              <a:rPr lang="en-GB" sz="2400" b="1" dirty="0" err="1">
                <a:solidFill>
                  <a:srgbClr val="FF0000"/>
                </a:solidFill>
              </a:rPr>
              <a:t>Lebne-Dengel</a:t>
            </a:r>
            <a:r>
              <a:rPr lang="en-GB" sz="2400" b="1" dirty="0">
                <a:solidFill>
                  <a:srgbClr val="FF0000"/>
                </a:solidFill>
              </a:rPr>
              <a:t> to King </a:t>
            </a:r>
            <a:r>
              <a:rPr lang="en-GB" sz="2400" b="1" dirty="0" err="1">
                <a:solidFill>
                  <a:srgbClr val="FF0000"/>
                </a:solidFill>
              </a:rPr>
              <a:t>João</a:t>
            </a:r>
            <a:r>
              <a:rPr lang="en-GB" sz="2400" b="1" dirty="0">
                <a:solidFill>
                  <a:srgbClr val="FF0000"/>
                </a:solidFill>
              </a:rPr>
              <a:t> III of Portugal in 1535</a:t>
            </a:r>
            <a:r>
              <a:rPr lang="en-GB" sz="2400" dirty="0"/>
              <a:t>, </a:t>
            </a:r>
            <a:r>
              <a:rPr lang="en-GB" sz="2400" b="1" dirty="0">
                <a:solidFill>
                  <a:srgbClr val="00B050"/>
                </a:solidFill>
              </a:rPr>
              <a:t>about four hundred Portuguese soldiers led by Christopher da Gama, the son of Vasco da Gama</a:t>
            </a:r>
            <a:r>
              <a:rPr lang="en-GB" sz="2400" dirty="0"/>
              <a:t>, and armed with matchlocks arrived in the Christian court in 1541. </a:t>
            </a:r>
            <a:endParaRPr lang="en-GB" sz="2400" dirty="0" smtClean="0"/>
          </a:p>
          <a:p>
            <a:r>
              <a:rPr lang="en-GB" sz="2400" dirty="0" smtClean="0"/>
              <a:t>The </a:t>
            </a:r>
            <a:r>
              <a:rPr lang="en-GB" sz="2400" dirty="0"/>
              <a:t>Portuguese governor of India who dispatched the army wanted to </a:t>
            </a:r>
            <a:r>
              <a:rPr lang="en-GB" sz="2400" b="1" dirty="0">
                <a:solidFill>
                  <a:srgbClr val="00B050"/>
                </a:solidFill>
              </a:rPr>
              <a:t>rescue what Portugal then considered a strategic ally in its war in the Red Sea against the Ottoman Empire</a:t>
            </a:r>
            <a:r>
              <a:rPr lang="en-GB" sz="2400" dirty="0"/>
              <a:t>. </a:t>
            </a:r>
            <a:endParaRPr lang="en-GB" sz="2400" dirty="0" smtClean="0"/>
          </a:p>
        </p:txBody>
      </p:sp>
    </p:spTree>
    <p:extLst>
      <p:ext uri="{BB962C8B-B14F-4D97-AF65-F5344CB8AC3E}">
        <p14:creationId xmlns:p14="http://schemas.microsoft.com/office/powerpoint/2010/main" val="1708536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sz="2800" dirty="0"/>
              <a:t>However, the Portuguese were defeated at the </a:t>
            </a:r>
            <a:r>
              <a:rPr lang="en-GB" sz="2800" b="1" dirty="0">
                <a:solidFill>
                  <a:srgbClr val="FF0000"/>
                </a:solidFill>
              </a:rPr>
              <a:t>battle of </a:t>
            </a:r>
            <a:r>
              <a:rPr lang="en-GB" sz="2800" b="1" dirty="0" err="1">
                <a:solidFill>
                  <a:srgbClr val="FF0000"/>
                </a:solidFill>
              </a:rPr>
              <a:t>Wafla</a:t>
            </a:r>
            <a:r>
              <a:rPr lang="en-GB" sz="2800" b="1" dirty="0">
                <a:solidFill>
                  <a:srgbClr val="FF0000"/>
                </a:solidFill>
              </a:rPr>
              <a:t> </a:t>
            </a:r>
            <a:r>
              <a:rPr lang="en-GB" sz="2800" dirty="0"/>
              <a:t>in the present day </a:t>
            </a:r>
            <a:r>
              <a:rPr lang="en-GB" sz="2800" b="1" dirty="0">
                <a:solidFill>
                  <a:srgbClr val="00B050"/>
                </a:solidFill>
              </a:rPr>
              <a:t>southern </a:t>
            </a:r>
            <a:r>
              <a:rPr lang="en-GB" sz="2800" b="1" dirty="0" err="1">
                <a:solidFill>
                  <a:srgbClr val="00B050"/>
                </a:solidFill>
              </a:rPr>
              <a:t>Tigray</a:t>
            </a:r>
            <a:r>
              <a:rPr lang="en-GB" sz="2800" b="1" dirty="0">
                <a:solidFill>
                  <a:srgbClr val="00B050"/>
                </a:solidFill>
              </a:rPr>
              <a:t> in August 1542</a:t>
            </a:r>
            <a:r>
              <a:rPr lang="en-GB" sz="2800" dirty="0"/>
              <a:t>. </a:t>
            </a:r>
          </a:p>
          <a:p>
            <a:r>
              <a:rPr lang="en-GB" sz="2800" dirty="0"/>
              <a:t>Christopher was captured and killed–maybe even beheaded–by Imam </a:t>
            </a:r>
            <a:r>
              <a:rPr lang="en-GB" sz="2800" dirty="0" err="1"/>
              <a:t>Aḥmad</a:t>
            </a:r>
            <a:r>
              <a:rPr lang="en-GB" sz="2800" dirty="0"/>
              <a:t>. </a:t>
            </a:r>
            <a:endParaRPr lang="en-GB" sz="2800" dirty="0" smtClean="0"/>
          </a:p>
          <a:p>
            <a:r>
              <a:rPr lang="en-GB" sz="2800" dirty="0" smtClean="0"/>
              <a:t>The </a:t>
            </a:r>
            <a:r>
              <a:rPr lang="en-GB" sz="2800" dirty="0"/>
              <a:t>surviving soldiers finally joined </a:t>
            </a:r>
            <a:r>
              <a:rPr lang="en-GB" sz="2800" dirty="0" err="1"/>
              <a:t>Gelawdewos</a:t>
            </a:r>
            <a:r>
              <a:rPr lang="en-GB" sz="2800" dirty="0"/>
              <a:t> in Semen in October and continued to fight in his army. </a:t>
            </a:r>
          </a:p>
          <a:p>
            <a:endParaRPr lang="en-GB" dirty="0"/>
          </a:p>
        </p:txBody>
      </p:sp>
      <p:sp>
        <p:nvSpPr>
          <p:cNvPr id="3" name="Title 2"/>
          <p:cNvSpPr>
            <a:spLocks noGrp="1"/>
          </p:cNvSpPr>
          <p:nvPr>
            <p:ph type="title"/>
          </p:nvPr>
        </p:nvSpPr>
        <p:spPr/>
        <p:txBody>
          <a:bodyPr/>
          <a:lstStyle/>
          <a:p>
            <a:endParaRPr lang="en-GB"/>
          </a:p>
        </p:txBody>
      </p:sp>
    </p:spTree>
    <p:extLst>
      <p:ext uri="{BB962C8B-B14F-4D97-AF65-F5344CB8AC3E}">
        <p14:creationId xmlns:p14="http://schemas.microsoft.com/office/powerpoint/2010/main" val="2533253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GB" dirty="0"/>
              <a:t>After his victory at </a:t>
            </a:r>
            <a:r>
              <a:rPr lang="en-GB" dirty="0" err="1"/>
              <a:t>Wafla</a:t>
            </a:r>
            <a:r>
              <a:rPr lang="en-GB" dirty="0"/>
              <a:t>, Imam Ahmed was so confident about his army‘s ability to repulse any future attack by the Christian force that he sent his musketeer allies back home and let his army camp. </a:t>
            </a:r>
            <a:endParaRPr lang="en-GB" dirty="0" smtClean="0"/>
          </a:p>
          <a:p>
            <a:r>
              <a:rPr lang="en-GB" b="1" dirty="0" smtClean="0">
                <a:solidFill>
                  <a:srgbClr val="00B050"/>
                </a:solidFill>
              </a:rPr>
              <a:t>In </a:t>
            </a:r>
            <a:r>
              <a:rPr lang="en-GB" b="1" dirty="0">
                <a:solidFill>
                  <a:srgbClr val="00B050"/>
                </a:solidFill>
              </a:rPr>
              <a:t>February1543</a:t>
            </a:r>
            <a:r>
              <a:rPr lang="en-GB" dirty="0"/>
              <a:t>, a battle occurred between his army and that of Emperor </a:t>
            </a:r>
            <a:r>
              <a:rPr lang="en-GB" dirty="0" err="1"/>
              <a:t>Gelawdewos</a:t>
            </a:r>
            <a:r>
              <a:rPr lang="en-GB" dirty="0"/>
              <a:t> at </a:t>
            </a:r>
            <a:r>
              <a:rPr lang="en-GB" b="1" dirty="0" err="1">
                <a:solidFill>
                  <a:srgbClr val="FF0000"/>
                </a:solidFill>
              </a:rPr>
              <a:t>Zantara</a:t>
            </a:r>
            <a:r>
              <a:rPr lang="en-GB" dirty="0">
                <a:solidFill>
                  <a:srgbClr val="FF0000"/>
                </a:solidFill>
              </a:rPr>
              <a:t> (</a:t>
            </a:r>
            <a:r>
              <a:rPr lang="en-GB" b="1" dirty="0" err="1">
                <a:solidFill>
                  <a:srgbClr val="FF0000"/>
                </a:solidFill>
              </a:rPr>
              <a:t>Woyna</a:t>
            </a:r>
            <a:r>
              <a:rPr lang="en-GB" b="1" dirty="0">
                <a:solidFill>
                  <a:srgbClr val="FF0000"/>
                </a:solidFill>
              </a:rPr>
              <a:t> </a:t>
            </a:r>
            <a:r>
              <a:rPr lang="en-GB" b="1" dirty="0" err="1">
                <a:solidFill>
                  <a:srgbClr val="FF0000"/>
                </a:solidFill>
              </a:rPr>
              <a:t>Dega</a:t>
            </a:r>
            <a:r>
              <a:rPr lang="en-GB" b="1" dirty="0">
                <a:solidFill>
                  <a:srgbClr val="FF0000"/>
                </a:solidFill>
              </a:rPr>
              <a:t>),</a:t>
            </a:r>
            <a:r>
              <a:rPr lang="en-GB" b="1" dirty="0">
                <a:solidFill>
                  <a:srgbClr val="00B050"/>
                </a:solidFill>
              </a:rPr>
              <a:t> </a:t>
            </a:r>
            <a:r>
              <a:rPr lang="en-GB" dirty="0"/>
              <a:t>east of Lake </a:t>
            </a:r>
            <a:r>
              <a:rPr lang="en-GB" dirty="0" err="1"/>
              <a:t>Ṭana</a:t>
            </a:r>
            <a:r>
              <a:rPr lang="en-GB" dirty="0"/>
              <a:t>, in which Imam Ahmed was killed</a:t>
            </a:r>
            <a:r>
              <a:rPr lang="en-GB" dirty="0" smtClean="0"/>
              <a:t>.</a:t>
            </a:r>
          </a:p>
          <a:p>
            <a:r>
              <a:rPr lang="en-GB" dirty="0" smtClean="0"/>
              <a:t> </a:t>
            </a:r>
            <a:r>
              <a:rPr lang="en-GB" b="1" dirty="0">
                <a:solidFill>
                  <a:srgbClr val="00B050"/>
                </a:solidFill>
              </a:rPr>
              <a:t>His death marked the end of the </a:t>
            </a:r>
            <a:r>
              <a:rPr lang="en-GB" b="1" dirty="0" err="1">
                <a:solidFill>
                  <a:srgbClr val="00B050"/>
                </a:solidFill>
              </a:rPr>
              <a:t>Adal</a:t>
            </a:r>
            <a:r>
              <a:rPr lang="en-GB" b="1" dirty="0">
                <a:solidFill>
                  <a:srgbClr val="00B050"/>
                </a:solidFill>
              </a:rPr>
              <a:t> conquest and its territorial control of the Ethiopian Christian Kingdom</a:t>
            </a:r>
          </a:p>
        </p:txBody>
      </p:sp>
      <p:sp>
        <p:nvSpPr>
          <p:cNvPr id="3" name="Title 2"/>
          <p:cNvSpPr>
            <a:spLocks noGrp="1"/>
          </p:cNvSpPr>
          <p:nvPr>
            <p:ph type="title"/>
          </p:nvPr>
        </p:nvSpPr>
        <p:spPr/>
        <p:txBody>
          <a:bodyPr/>
          <a:lstStyle/>
          <a:p>
            <a:endParaRPr lang="en-GB"/>
          </a:p>
        </p:txBody>
      </p:sp>
    </p:spTree>
    <p:extLst>
      <p:ext uri="{BB962C8B-B14F-4D97-AF65-F5344CB8AC3E}">
        <p14:creationId xmlns:p14="http://schemas.microsoft.com/office/powerpoint/2010/main" val="3032506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92696"/>
            <a:ext cx="8229600" cy="5314595"/>
          </a:xfrm>
        </p:spPr>
        <p:txBody>
          <a:bodyPr>
            <a:normAutofit fontScale="92500" lnSpcReduction="20000"/>
          </a:bodyPr>
          <a:lstStyle/>
          <a:p>
            <a:r>
              <a:rPr lang="en-GB" dirty="0"/>
              <a:t>Soon after the battle, Emperor </a:t>
            </a:r>
            <a:r>
              <a:rPr lang="en-GB" dirty="0" err="1"/>
              <a:t>Gelawdewos</a:t>
            </a:r>
            <a:r>
              <a:rPr lang="en-GB" dirty="0"/>
              <a:t> </a:t>
            </a:r>
            <a:r>
              <a:rPr lang="en-GB" b="1" dirty="0">
                <a:solidFill>
                  <a:srgbClr val="00B050"/>
                </a:solidFill>
              </a:rPr>
              <a:t>restored the former Christian kingdom‘s territories in the northern and central plateau in less than two years. </a:t>
            </a:r>
            <a:endParaRPr lang="en-GB" b="1" dirty="0" smtClean="0">
              <a:solidFill>
                <a:srgbClr val="00B050"/>
              </a:solidFill>
            </a:endParaRPr>
          </a:p>
          <a:p>
            <a:r>
              <a:rPr lang="en-GB" dirty="0" smtClean="0"/>
              <a:t>Muslim </a:t>
            </a:r>
            <a:r>
              <a:rPr lang="en-GB" b="1" dirty="0">
                <a:solidFill>
                  <a:srgbClr val="00B050"/>
                </a:solidFill>
              </a:rPr>
              <a:t>communities in the highlands submitted to him </a:t>
            </a:r>
            <a:r>
              <a:rPr lang="en-GB" dirty="0"/>
              <a:t>as he was astoundingly tolerant towards them</a:t>
            </a:r>
            <a:r>
              <a:rPr lang="en-GB" dirty="0" smtClean="0"/>
              <a:t>.</a:t>
            </a:r>
          </a:p>
          <a:p>
            <a:r>
              <a:rPr lang="en-GB" dirty="0" smtClean="0"/>
              <a:t> </a:t>
            </a:r>
            <a:r>
              <a:rPr lang="en-GB" dirty="0"/>
              <a:t>He attempted to </a:t>
            </a:r>
            <a:r>
              <a:rPr lang="en-GB" b="1" dirty="0">
                <a:solidFill>
                  <a:srgbClr val="FF0000"/>
                </a:solidFill>
              </a:rPr>
              <a:t>reorganize the </a:t>
            </a:r>
            <a:r>
              <a:rPr lang="en-GB" b="1" dirty="0" err="1">
                <a:solidFill>
                  <a:srgbClr val="FF0000"/>
                </a:solidFill>
              </a:rPr>
              <a:t>chewa</a:t>
            </a:r>
            <a:r>
              <a:rPr lang="en-GB" b="1" dirty="0">
                <a:solidFill>
                  <a:srgbClr val="FF0000"/>
                </a:solidFill>
              </a:rPr>
              <a:t> regiments </a:t>
            </a:r>
            <a:r>
              <a:rPr lang="en-GB" dirty="0"/>
              <a:t>which he stationed in the frontier regions. </a:t>
            </a:r>
            <a:endParaRPr lang="en-GB" dirty="0" smtClean="0"/>
          </a:p>
          <a:p>
            <a:r>
              <a:rPr lang="en-GB" dirty="0" smtClean="0"/>
              <a:t>Nevertheless, </a:t>
            </a:r>
            <a:r>
              <a:rPr lang="en-GB" dirty="0"/>
              <a:t>his spirited </a:t>
            </a:r>
            <a:r>
              <a:rPr lang="en-GB" dirty="0" err="1"/>
              <a:t>endeavor</a:t>
            </a:r>
            <a:r>
              <a:rPr lang="en-GB" dirty="0"/>
              <a:t> to restore the administrative and military stamina of the weakened Christian kingdom met a </a:t>
            </a:r>
            <a:r>
              <a:rPr lang="en-GB" b="1" dirty="0">
                <a:solidFill>
                  <a:srgbClr val="FF0000"/>
                </a:solidFill>
              </a:rPr>
              <a:t>final blow in 1559. </a:t>
            </a:r>
            <a:endParaRPr lang="en-GB" b="1" dirty="0" smtClean="0">
              <a:solidFill>
                <a:srgbClr val="FF0000"/>
              </a:solidFill>
            </a:endParaRPr>
          </a:p>
          <a:p>
            <a:r>
              <a:rPr lang="en-GB" b="1" dirty="0" smtClean="0">
                <a:solidFill>
                  <a:srgbClr val="00B050"/>
                </a:solidFill>
              </a:rPr>
              <a:t>He </a:t>
            </a:r>
            <a:r>
              <a:rPr lang="en-GB" b="1" dirty="0">
                <a:solidFill>
                  <a:srgbClr val="00B050"/>
                </a:solidFill>
              </a:rPr>
              <a:t>was </a:t>
            </a:r>
            <a:r>
              <a:rPr lang="en-GB" b="1" dirty="0" smtClean="0">
                <a:solidFill>
                  <a:srgbClr val="00B050"/>
                </a:solidFill>
              </a:rPr>
              <a:t>killed in a battle </a:t>
            </a:r>
            <a:r>
              <a:rPr lang="en-GB" dirty="0" smtClean="0"/>
              <a:t>and beheaded </a:t>
            </a:r>
            <a:r>
              <a:rPr lang="en-GB" b="1" dirty="0" smtClean="0">
                <a:solidFill>
                  <a:srgbClr val="00B050"/>
                </a:solidFill>
              </a:rPr>
              <a:t>by </a:t>
            </a:r>
            <a:r>
              <a:rPr lang="en-GB" b="1" dirty="0">
                <a:solidFill>
                  <a:srgbClr val="00B050"/>
                </a:solidFill>
              </a:rPr>
              <a:t>Emir </a:t>
            </a:r>
            <a:r>
              <a:rPr lang="en-GB" b="1" dirty="0" err="1">
                <a:solidFill>
                  <a:srgbClr val="00B050"/>
                </a:solidFill>
              </a:rPr>
              <a:t>Nur</a:t>
            </a:r>
            <a:r>
              <a:rPr lang="en-GB" b="1" dirty="0">
                <a:solidFill>
                  <a:srgbClr val="00B050"/>
                </a:solidFill>
              </a:rPr>
              <a:t> </a:t>
            </a:r>
            <a:r>
              <a:rPr lang="en-GB" b="1" dirty="0" err="1">
                <a:solidFill>
                  <a:srgbClr val="00B050"/>
                </a:solidFill>
              </a:rPr>
              <a:t>Ibn</a:t>
            </a:r>
            <a:r>
              <a:rPr lang="en-GB" b="1" dirty="0">
                <a:solidFill>
                  <a:srgbClr val="00B050"/>
                </a:solidFill>
              </a:rPr>
              <a:t> </a:t>
            </a:r>
            <a:r>
              <a:rPr lang="en-GB" b="1" dirty="0" smtClean="0">
                <a:solidFill>
                  <a:srgbClr val="00B050"/>
                </a:solidFill>
              </a:rPr>
              <a:t>al-</a:t>
            </a:r>
            <a:r>
              <a:rPr lang="en-GB" b="1" dirty="0" err="1" smtClean="0">
                <a:solidFill>
                  <a:srgbClr val="00B050"/>
                </a:solidFill>
              </a:rPr>
              <a:t>Waazir</a:t>
            </a:r>
            <a:r>
              <a:rPr lang="en-GB" b="1" dirty="0" smtClean="0">
                <a:solidFill>
                  <a:srgbClr val="00B050"/>
                </a:solidFill>
              </a:rPr>
              <a:t> </a:t>
            </a:r>
            <a:r>
              <a:rPr lang="en-GB" b="1" dirty="0" err="1">
                <a:solidFill>
                  <a:srgbClr val="00B050"/>
                </a:solidFill>
              </a:rPr>
              <a:t>Mujahid</a:t>
            </a:r>
            <a:r>
              <a:rPr lang="en-GB" b="1" dirty="0">
                <a:solidFill>
                  <a:srgbClr val="00B050"/>
                </a:solidFill>
              </a:rPr>
              <a:t> of </a:t>
            </a:r>
            <a:r>
              <a:rPr lang="en-GB" b="1" dirty="0" err="1">
                <a:solidFill>
                  <a:srgbClr val="00B050"/>
                </a:solidFill>
              </a:rPr>
              <a:t>Adal</a:t>
            </a:r>
            <a:r>
              <a:rPr lang="en-GB" dirty="0">
                <a:solidFill>
                  <a:srgbClr val="00B050"/>
                </a:solidFill>
              </a:rPr>
              <a:t>, who thus avenged the death of Imam </a:t>
            </a:r>
            <a:r>
              <a:rPr lang="en-GB" dirty="0" smtClean="0">
                <a:solidFill>
                  <a:srgbClr val="00B050"/>
                </a:solidFill>
              </a:rPr>
              <a:t>Ahmed</a:t>
            </a:r>
            <a:r>
              <a:rPr lang="en-GB" dirty="0" smtClean="0"/>
              <a:t>. </a:t>
            </a:r>
            <a:endParaRPr lang="en-GB" dirty="0"/>
          </a:p>
        </p:txBody>
      </p:sp>
    </p:spTree>
    <p:extLst>
      <p:ext uri="{BB962C8B-B14F-4D97-AF65-F5344CB8AC3E}">
        <p14:creationId xmlns:p14="http://schemas.microsoft.com/office/powerpoint/2010/main" val="2750821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fontScale="85000" lnSpcReduction="20000"/>
          </a:bodyPr>
          <a:lstStyle/>
          <a:p>
            <a:r>
              <a:rPr lang="en-GB" dirty="0"/>
              <a:t> Although the </a:t>
            </a:r>
            <a:r>
              <a:rPr lang="en-GB" dirty="0" err="1"/>
              <a:t>Adal</a:t>
            </a:r>
            <a:r>
              <a:rPr lang="en-GB" dirty="0"/>
              <a:t> threat, which cannot survive the death of its able leader Imam Ahmed, was neutralized, the Christian kingdom was soon </a:t>
            </a:r>
            <a:r>
              <a:rPr lang="en-GB" b="1" dirty="0">
                <a:solidFill>
                  <a:srgbClr val="00B050"/>
                </a:solidFill>
              </a:rPr>
              <a:t>challenged by foreign powers in various forms. </a:t>
            </a:r>
            <a:endParaRPr lang="en-GB" b="1" dirty="0" smtClean="0">
              <a:solidFill>
                <a:srgbClr val="00B050"/>
              </a:solidFill>
            </a:endParaRPr>
          </a:p>
          <a:p>
            <a:r>
              <a:rPr lang="en-GB" b="1" dirty="0" smtClean="0">
                <a:solidFill>
                  <a:srgbClr val="00B050"/>
                </a:solidFill>
              </a:rPr>
              <a:t>Emperor </a:t>
            </a:r>
            <a:r>
              <a:rPr lang="en-GB" b="1" dirty="0">
                <a:solidFill>
                  <a:srgbClr val="00B050"/>
                </a:solidFill>
              </a:rPr>
              <a:t>Minas (r.1559-63</a:t>
            </a:r>
            <a:r>
              <a:rPr lang="en-GB" dirty="0"/>
              <a:t>) conducted military campaigns </a:t>
            </a:r>
            <a:r>
              <a:rPr lang="en-GB" b="1" dirty="0">
                <a:solidFill>
                  <a:srgbClr val="00B050"/>
                </a:solidFill>
              </a:rPr>
              <a:t>against the Turkish-backed </a:t>
            </a:r>
            <a:r>
              <a:rPr lang="en-GB" b="1" dirty="0" err="1">
                <a:solidFill>
                  <a:srgbClr val="00B050"/>
                </a:solidFill>
              </a:rPr>
              <a:t>Bahre</a:t>
            </a:r>
            <a:r>
              <a:rPr lang="en-GB" b="1" dirty="0">
                <a:solidFill>
                  <a:srgbClr val="00B050"/>
                </a:solidFill>
              </a:rPr>
              <a:t> </a:t>
            </a:r>
            <a:r>
              <a:rPr lang="en-GB" b="1" dirty="0" err="1">
                <a:solidFill>
                  <a:srgbClr val="00B050"/>
                </a:solidFill>
              </a:rPr>
              <a:t>Negash</a:t>
            </a:r>
            <a:r>
              <a:rPr lang="en-GB" b="1" dirty="0">
                <a:solidFill>
                  <a:srgbClr val="00B050"/>
                </a:solidFill>
              </a:rPr>
              <a:t> </a:t>
            </a:r>
            <a:r>
              <a:rPr lang="en-GB" b="1" dirty="0" err="1">
                <a:solidFill>
                  <a:srgbClr val="00B050"/>
                </a:solidFill>
              </a:rPr>
              <a:t>Yishaq</a:t>
            </a:r>
            <a:r>
              <a:rPr lang="en-GB" b="1" dirty="0">
                <a:solidFill>
                  <a:srgbClr val="00B050"/>
                </a:solidFill>
              </a:rPr>
              <a:t>,</a:t>
            </a:r>
            <a:r>
              <a:rPr lang="en-GB" dirty="0"/>
              <a:t> the most powerful regional lord of the time, and </a:t>
            </a:r>
            <a:r>
              <a:rPr lang="en-GB" dirty="0">
                <a:solidFill>
                  <a:srgbClr val="00B050"/>
                </a:solidFill>
              </a:rPr>
              <a:t>reclaimed territories </a:t>
            </a:r>
            <a:r>
              <a:rPr lang="en-GB" dirty="0"/>
              <a:t>in the coast, including </a:t>
            </a:r>
            <a:r>
              <a:rPr lang="en-GB" b="1" dirty="0" err="1">
                <a:solidFill>
                  <a:srgbClr val="00B050"/>
                </a:solidFill>
              </a:rPr>
              <a:t>Dabarwa</a:t>
            </a:r>
            <a:r>
              <a:rPr lang="en-GB" dirty="0"/>
              <a:t>. </a:t>
            </a:r>
            <a:endParaRPr lang="en-GB" dirty="0" smtClean="0"/>
          </a:p>
          <a:p>
            <a:r>
              <a:rPr lang="en-GB" dirty="0" smtClean="0"/>
              <a:t>As </a:t>
            </a:r>
            <a:r>
              <a:rPr lang="en-GB" dirty="0"/>
              <a:t>Minas died in 1563, the </a:t>
            </a:r>
            <a:r>
              <a:rPr lang="en-GB" dirty="0">
                <a:solidFill>
                  <a:srgbClr val="00B050"/>
                </a:solidFill>
              </a:rPr>
              <a:t>challenge from </a:t>
            </a:r>
            <a:r>
              <a:rPr lang="en-GB" dirty="0" err="1">
                <a:solidFill>
                  <a:srgbClr val="00B050"/>
                </a:solidFill>
              </a:rPr>
              <a:t>Yishaq</a:t>
            </a:r>
            <a:r>
              <a:rPr lang="en-GB" dirty="0">
                <a:solidFill>
                  <a:srgbClr val="00B050"/>
                </a:solidFill>
              </a:rPr>
              <a:t> and the Turks was carried over to his successor</a:t>
            </a:r>
            <a:r>
              <a:rPr lang="en-GB" dirty="0" smtClean="0">
                <a:solidFill>
                  <a:srgbClr val="00B050"/>
                </a:solidFill>
              </a:rPr>
              <a:t>.</a:t>
            </a:r>
          </a:p>
          <a:p>
            <a:r>
              <a:rPr lang="en-GB" dirty="0" smtClean="0"/>
              <a:t> </a:t>
            </a:r>
            <a:r>
              <a:rPr lang="en-GB" b="1" dirty="0">
                <a:solidFill>
                  <a:srgbClr val="00B050"/>
                </a:solidFill>
              </a:rPr>
              <a:t>Emperor </a:t>
            </a:r>
            <a:r>
              <a:rPr lang="en-GB" b="1" dirty="0" err="1">
                <a:solidFill>
                  <a:srgbClr val="00B050"/>
                </a:solidFill>
              </a:rPr>
              <a:t>Sartsa-Dengel</a:t>
            </a:r>
            <a:r>
              <a:rPr lang="en-GB" b="1" dirty="0">
                <a:solidFill>
                  <a:srgbClr val="00B050"/>
                </a:solidFill>
              </a:rPr>
              <a:t> (r.1563-98</a:t>
            </a:r>
            <a:r>
              <a:rPr lang="en-GB" dirty="0"/>
              <a:t>), who defeated Turkish forces in 1587/89, neutralized </a:t>
            </a:r>
            <a:r>
              <a:rPr lang="en-GB" dirty="0" err="1"/>
              <a:t>Bahre</a:t>
            </a:r>
            <a:r>
              <a:rPr lang="en-GB" dirty="0"/>
              <a:t> </a:t>
            </a:r>
            <a:r>
              <a:rPr lang="en-GB" dirty="0" err="1"/>
              <a:t>negash</a:t>
            </a:r>
            <a:r>
              <a:rPr lang="en-GB" dirty="0"/>
              <a:t> </a:t>
            </a:r>
            <a:r>
              <a:rPr lang="en-GB" dirty="0" err="1"/>
              <a:t>Yishaq</a:t>
            </a:r>
            <a:r>
              <a:rPr lang="en-GB" dirty="0"/>
              <a:t> and won back the territories from the Turks. </a:t>
            </a:r>
            <a:endParaRPr lang="en-GB" dirty="0" smtClean="0"/>
          </a:p>
          <a:p>
            <a:r>
              <a:rPr lang="en-GB" dirty="0" smtClean="0"/>
              <a:t>Although </a:t>
            </a:r>
            <a:r>
              <a:rPr lang="en-GB" dirty="0"/>
              <a:t>the </a:t>
            </a:r>
            <a:r>
              <a:rPr lang="en-GB" dirty="0">
                <a:solidFill>
                  <a:srgbClr val="00B050"/>
                </a:solidFill>
              </a:rPr>
              <a:t>Turkish threat was overcome militarily</a:t>
            </a:r>
            <a:r>
              <a:rPr lang="en-GB" dirty="0"/>
              <a:t>, the Portuguese presence brought yet another </a:t>
            </a:r>
            <a:r>
              <a:rPr lang="en-GB" dirty="0" smtClean="0"/>
              <a:t>crisis, what is known </a:t>
            </a:r>
            <a:r>
              <a:rPr lang="en-GB" dirty="0"/>
              <a:t>as</a:t>
            </a:r>
            <a:r>
              <a:rPr lang="en-GB" b="1" dirty="0">
                <a:solidFill>
                  <a:srgbClr val="00B050"/>
                </a:solidFill>
              </a:rPr>
              <a:t> the Jesuit interlude. </a:t>
            </a:r>
          </a:p>
        </p:txBody>
      </p:sp>
    </p:spTree>
    <p:extLst>
      <p:ext uri="{BB962C8B-B14F-4D97-AF65-F5344CB8AC3E}">
        <p14:creationId xmlns:p14="http://schemas.microsoft.com/office/powerpoint/2010/main" val="894088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6672"/>
            <a:ext cx="8229600" cy="5530619"/>
          </a:xfrm>
        </p:spPr>
        <p:txBody>
          <a:bodyPr>
            <a:normAutofit/>
          </a:bodyPr>
          <a:lstStyle/>
          <a:p>
            <a:pPr algn="just"/>
            <a:r>
              <a:rPr lang="en-GB" b="1" dirty="0">
                <a:solidFill>
                  <a:srgbClr val="00B050"/>
                </a:solidFill>
              </a:rPr>
              <a:t>The consequences of the conflict for both sides were far-reaching</a:t>
            </a:r>
            <a:r>
              <a:rPr lang="en-GB" dirty="0"/>
              <a:t>. </a:t>
            </a:r>
            <a:endParaRPr lang="en-GB" dirty="0" smtClean="0"/>
          </a:p>
          <a:p>
            <a:pPr algn="just">
              <a:buFont typeface="Wingdings" pitchFamily="2" charset="2"/>
              <a:buChar char="v"/>
            </a:pPr>
            <a:r>
              <a:rPr lang="en-GB" dirty="0" smtClean="0"/>
              <a:t>One </a:t>
            </a:r>
            <a:r>
              <a:rPr lang="en-GB" dirty="0"/>
              <a:t>of the most obvious was the </a:t>
            </a:r>
            <a:r>
              <a:rPr lang="en-GB" b="1" dirty="0">
                <a:solidFill>
                  <a:srgbClr val="00B050"/>
                </a:solidFill>
              </a:rPr>
              <a:t>huge human and material cost. </a:t>
            </a:r>
            <a:endParaRPr lang="en-GB" b="1" dirty="0" smtClean="0">
              <a:solidFill>
                <a:srgbClr val="00B050"/>
              </a:solidFill>
            </a:endParaRPr>
          </a:p>
          <a:p>
            <a:pPr algn="just">
              <a:buFont typeface="Wingdings" pitchFamily="2" charset="2"/>
              <a:buChar char="v"/>
            </a:pPr>
            <a:r>
              <a:rPr lang="en-GB" dirty="0" smtClean="0"/>
              <a:t>It </a:t>
            </a:r>
            <a:r>
              <a:rPr lang="en-GB" dirty="0"/>
              <a:t>is also evident that </a:t>
            </a:r>
            <a:r>
              <a:rPr lang="en-GB" b="1" dirty="0">
                <a:solidFill>
                  <a:srgbClr val="00B050"/>
                </a:solidFill>
              </a:rPr>
              <a:t>both the Muslim Sultanate and Christian Kingdom were weakened,</a:t>
            </a:r>
            <a:r>
              <a:rPr lang="en-GB" dirty="0"/>
              <a:t> thereby paving the way for the success of the Oromo population movement</a:t>
            </a:r>
            <a:r>
              <a:rPr lang="en-GB" dirty="0" smtClean="0"/>
              <a:t>.</a:t>
            </a:r>
          </a:p>
          <a:p>
            <a:pPr algn="just">
              <a:buFont typeface="Wingdings" pitchFamily="2" charset="2"/>
              <a:buChar char="v"/>
            </a:pPr>
            <a:r>
              <a:rPr lang="en-GB" dirty="0" smtClean="0"/>
              <a:t> </a:t>
            </a:r>
            <a:r>
              <a:rPr lang="en-GB" b="1" dirty="0">
                <a:solidFill>
                  <a:srgbClr val="00B050"/>
                </a:solidFill>
              </a:rPr>
              <a:t>On the positive side, linguistic and religious </a:t>
            </a:r>
            <a:r>
              <a:rPr lang="en-GB" b="1" dirty="0" smtClean="0">
                <a:solidFill>
                  <a:srgbClr val="00B050"/>
                </a:solidFill>
              </a:rPr>
              <a:t>interactions were </a:t>
            </a:r>
            <a:r>
              <a:rPr lang="en-GB" b="1" dirty="0">
                <a:solidFill>
                  <a:srgbClr val="00B050"/>
                </a:solidFill>
              </a:rPr>
              <a:t>accompanied by intermarriages among various cultural groups</a:t>
            </a:r>
            <a:r>
              <a:rPr lang="en-GB" dirty="0">
                <a:solidFill>
                  <a:srgbClr val="00B050"/>
                </a:solidFill>
              </a:rPr>
              <a:t>. </a:t>
            </a:r>
          </a:p>
        </p:txBody>
      </p:sp>
    </p:spTree>
    <p:extLst>
      <p:ext uri="{BB962C8B-B14F-4D97-AF65-F5344CB8AC3E}">
        <p14:creationId xmlns:p14="http://schemas.microsoft.com/office/powerpoint/2010/main" val="4892256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196752"/>
            <a:ext cx="8496944" cy="4968552"/>
          </a:xfrm>
        </p:spPr>
        <p:txBody>
          <a:bodyPr>
            <a:noAutofit/>
          </a:bodyPr>
          <a:lstStyle/>
          <a:p>
            <a:pPr algn="just"/>
            <a:r>
              <a:rPr lang="en-GB" sz="2000" dirty="0"/>
              <a:t>The Portuguese and Ottoman interventions in the affairs of the country </a:t>
            </a:r>
            <a:r>
              <a:rPr lang="en-GB" sz="2000" b="1" dirty="0">
                <a:solidFill>
                  <a:srgbClr val="00B050"/>
                </a:solidFill>
              </a:rPr>
              <a:t>reflected their competing political ambitions around the Red Sea and the Indian Ocean. </a:t>
            </a:r>
            <a:endParaRPr lang="en-GB" sz="2000" b="1" dirty="0" smtClean="0">
              <a:solidFill>
                <a:srgbClr val="00B050"/>
              </a:solidFill>
            </a:endParaRPr>
          </a:p>
          <a:p>
            <a:pPr algn="just"/>
            <a:r>
              <a:rPr lang="en-GB" sz="2000" dirty="0" smtClean="0"/>
              <a:t>However</a:t>
            </a:r>
            <a:r>
              <a:rPr lang="en-GB" sz="2000" dirty="0"/>
              <a:t>, an actual military alliance between Portugal and the Christian kingdom did not take place since Ethiopia was not a naval power to give meaningful maritime support to Portugal against the Ottoman Turks</a:t>
            </a:r>
            <a:r>
              <a:rPr lang="en-GB" sz="2000" dirty="0" smtClean="0"/>
              <a:t>.</a:t>
            </a:r>
          </a:p>
          <a:p>
            <a:pPr algn="just"/>
            <a:r>
              <a:rPr lang="en-GB" sz="2000" dirty="0" smtClean="0"/>
              <a:t> </a:t>
            </a:r>
            <a:r>
              <a:rPr lang="en-GB" sz="2000" dirty="0"/>
              <a:t>After the conflict, the EOC as an ideological arm of the state was weakened and sought revival. </a:t>
            </a:r>
            <a:endParaRPr lang="en-GB" sz="2000" dirty="0" smtClean="0"/>
          </a:p>
          <a:p>
            <a:pPr algn="just"/>
            <a:r>
              <a:rPr lang="en-GB" sz="2000" dirty="0" smtClean="0"/>
              <a:t>At </a:t>
            </a:r>
            <a:r>
              <a:rPr lang="en-GB" sz="2000" dirty="0"/>
              <a:t>the same time, the monarchy could not count on the traditional political and military apparatus</a:t>
            </a:r>
            <a:r>
              <a:rPr lang="en-GB" sz="2000" dirty="0" smtClean="0"/>
              <a:t>.</a:t>
            </a:r>
          </a:p>
          <a:p>
            <a:pPr algn="just"/>
            <a:r>
              <a:rPr lang="en-GB" sz="2000" dirty="0" smtClean="0"/>
              <a:t>  </a:t>
            </a:r>
            <a:r>
              <a:rPr lang="en-GB" sz="2000" dirty="0"/>
              <a:t>As a result, </a:t>
            </a:r>
            <a:r>
              <a:rPr lang="en-GB" sz="2000" b="1" dirty="0">
                <a:solidFill>
                  <a:srgbClr val="00B050"/>
                </a:solidFill>
              </a:rPr>
              <a:t>the rulers of the Christian Kingdom may have regarded an alliance with Roman Catholicism as a tactic to secure sufficient modern weaponry to restore lost territories.</a:t>
            </a:r>
          </a:p>
        </p:txBody>
      </p:sp>
      <p:sp>
        <p:nvSpPr>
          <p:cNvPr id="3" name="Title 2"/>
          <p:cNvSpPr>
            <a:spLocks noGrp="1"/>
          </p:cNvSpPr>
          <p:nvPr>
            <p:ph type="title"/>
          </p:nvPr>
        </p:nvSpPr>
        <p:spPr>
          <a:xfrm>
            <a:off x="467544" y="188640"/>
            <a:ext cx="8229600" cy="1008112"/>
          </a:xfrm>
        </p:spPr>
        <p:txBody>
          <a:bodyPr>
            <a:normAutofit fontScale="90000"/>
          </a:bodyPr>
          <a:lstStyle/>
          <a:p>
            <a:r>
              <a:rPr lang="en-GB" dirty="0" smtClean="0">
                <a:solidFill>
                  <a:srgbClr val="FF0000"/>
                </a:solidFill>
              </a:rPr>
              <a:t>5.2</a:t>
            </a:r>
            <a:r>
              <a:rPr lang="en-GB" dirty="0">
                <a:solidFill>
                  <a:srgbClr val="FF0000"/>
                </a:solidFill>
              </a:rPr>
              <a:t>. Foreign Intervention and Religious </a:t>
            </a:r>
            <a:r>
              <a:rPr lang="en-GB" dirty="0" smtClean="0">
                <a:solidFill>
                  <a:srgbClr val="FF0000"/>
                </a:solidFill>
              </a:rPr>
              <a:t>Controversies</a:t>
            </a:r>
            <a:endParaRPr lang="en-GB" dirty="0">
              <a:solidFill>
                <a:srgbClr val="FF0000"/>
              </a:solidFill>
            </a:endParaRPr>
          </a:p>
        </p:txBody>
      </p:sp>
    </p:spTree>
    <p:extLst>
      <p:ext uri="{BB962C8B-B14F-4D97-AF65-F5344CB8AC3E}">
        <p14:creationId xmlns:p14="http://schemas.microsoft.com/office/powerpoint/2010/main" val="42867381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7"/>
            <a:ext cx="8435280" cy="5624469"/>
          </a:xfrm>
        </p:spPr>
        <p:txBody>
          <a:bodyPr>
            <a:normAutofit fontScale="77500" lnSpcReduction="20000"/>
          </a:bodyPr>
          <a:lstStyle/>
          <a:p>
            <a:pPr algn="just"/>
            <a:endParaRPr lang="en-GB" sz="2800" dirty="0" smtClean="0"/>
          </a:p>
          <a:p>
            <a:pPr algn="just"/>
            <a:r>
              <a:rPr lang="en-GB" sz="2800" dirty="0" smtClean="0"/>
              <a:t>The </a:t>
            </a:r>
            <a:r>
              <a:rPr lang="en-GB" sz="2800" dirty="0"/>
              <a:t>attempts to establish diplomatic and military relations between Portugal and the ―</a:t>
            </a:r>
            <a:r>
              <a:rPr lang="en-GB" sz="2800" b="1" dirty="0">
                <a:solidFill>
                  <a:srgbClr val="00B050"/>
                </a:solidFill>
              </a:rPr>
              <a:t>Kingdom of </a:t>
            </a:r>
            <a:r>
              <a:rPr lang="en-GB" sz="2800" b="1" dirty="0" err="1">
                <a:solidFill>
                  <a:srgbClr val="00B050"/>
                </a:solidFill>
              </a:rPr>
              <a:t>Prester</a:t>
            </a:r>
            <a:r>
              <a:rPr lang="en-GB" sz="2800" b="1" dirty="0">
                <a:solidFill>
                  <a:srgbClr val="00B050"/>
                </a:solidFill>
              </a:rPr>
              <a:t> </a:t>
            </a:r>
            <a:r>
              <a:rPr lang="en-GB" sz="2800" b="1" dirty="0" smtClean="0">
                <a:solidFill>
                  <a:srgbClr val="00B050"/>
                </a:solidFill>
              </a:rPr>
              <a:t>John</a:t>
            </a:r>
            <a:r>
              <a:rPr lang="en-GB" sz="2800" dirty="0"/>
              <a:t>,</a:t>
            </a:r>
            <a:r>
              <a:rPr lang="en-GB" sz="2800" dirty="0" smtClean="0"/>
              <a:t> </a:t>
            </a:r>
            <a:r>
              <a:rPr lang="en-GB" sz="2800" dirty="0"/>
              <a:t>first under </a:t>
            </a:r>
            <a:r>
              <a:rPr lang="en-GB" sz="2800" b="1" dirty="0">
                <a:solidFill>
                  <a:srgbClr val="00B050"/>
                </a:solidFill>
              </a:rPr>
              <a:t>King Manuel I (1495–1521</a:t>
            </a:r>
            <a:r>
              <a:rPr lang="en-GB" sz="2800" dirty="0"/>
              <a:t>) and later under Joao III (1521–1557), saw several representatives of the Portuguese power visit the Ethiopian royal court. </a:t>
            </a:r>
            <a:endParaRPr lang="en-GB" sz="2800" dirty="0" smtClean="0"/>
          </a:p>
          <a:p>
            <a:pPr algn="just"/>
            <a:r>
              <a:rPr lang="en-GB" dirty="0" smtClean="0"/>
              <a:t>This </a:t>
            </a:r>
            <a:r>
              <a:rPr lang="en-GB" dirty="0"/>
              <a:t>was followed by the arrival of </a:t>
            </a:r>
            <a:r>
              <a:rPr lang="en-GB" b="1" dirty="0">
                <a:solidFill>
                  <a:srgbClr val="00B050"/>
                </a:solidFill>
              </a:rPr>
              <a:t>several Jesuit missionaries in Ethiopia in 1557 to expand Catholicism. </a:t>
            </a:r>
            <a:endParaRPr lang="en-GB" b="1" dirty="0" smtClean="0">
              <a:solidFill>
                <a:srgbClr val="00B050"/>
              </a:solidFill>
            </a:endParaRPr>
          </a:p>
          <a:p>
            <a:pPr algn="just"/>
            <a:r>
              <a:rPr lang="en-GB" dirty="0" smtClean="0"/>
              <a:t>The </a:t>
            </a:r>
            <a:r>
              <a:rPr lang="en-GB" dirty="0"/>
              <a:t>Jesuits taught the Catholic doctrine of </a:t>
            </a:r>
            <a:r>
              <a:rPr lang="en-GB" b="1" dirty="0">
                <a:solidFill>
                  <a:srgbClr val="00B050"/>
                </a:solidFill>
              </a:rPr>
              <a:t>two different and therefore separate natures of Christ</a:t>
            </a:r>
            <a:r>
              <a:rPr lang="en-GB" dirty="0"/>
              <a:t>—divine and human-which was contrary to the </a:t>
            </a:r>
            <a:r>
              <a:rPr lang="en-GB" dirty="0" err="1"/>
              <a:t>tewahedo</a:t>
            </a:r>
            <a:r>
              <a:rPr lang="en-GB" dirty="0"/>
              <a:t> theology of the EOC. </a:t>
            </a:r>
            <a:endParaRPr lang="en-GB" dirty="0" smtClean="0"/>
          </a:p>
          <a:p>
            <a:pPr algn="just"/>
            <a:r>
              <a:rPr lang="en-GB" dirty="0" smtClean="0"/>
              <a:t>The </a:t>
            </a:r>
            <a:r>
              <a:rPr lang="en-GB" dirty="0"/>
              <a:t>EOC taught that Christ, through union or </a:t>
            </a:r>
            <a:r>
              <a:rPr lang="en-GB" dirty="0" err="1" smtClean="0"/>
              <a:t>Tewahedo</a:t>
            </a:r>
            <a:r>
              <a:rPr lang="en-GB" dirty="0"/>
              <a:t>, had a perfect human nature inseparable from the divine</a:t>
            </a:r>
            <a:r>
              <a:rPr lang="en-GB" dirty="0" smtClean="0"/>
              <a:t>.</a:t>
            </a:r>
          </a:p>
          <a:p>
            <a:pPr algn="just"/>
            <a:r>
              <a:rPr lang="en-GB" dirty="0" smtClean="0"/>
              <a:t> </a:t>
            </a:r>
            <a:r>
              <a:rPr lang="en-GB" dirty="0"/>
              <a:t>The leading members of the mission who played key roles in efforts to evangelize the country included Joao Bermudez, Andreas de Oviedo, Pedro </a:t>
            </a:r>
            <a:r>
              <a:rPr lang="en-GB" dirty="0" err="1"/>
              <a:t>Paez</a:t>
            </a:r>
            <a:r>
              <a:rPr lang="en-GB" dirty="0"/>
              <a:t>, and Alfonso </a:t>
            </a:r>
            <a:r>
              <a:rPr lang="en-GB" dirty="0" smtClean="0"/>
              <a:t>Mendez.</a:t>
            </a:r>
            <a:endParaRPr lang="en-GB" dirty="0"/>
          </a:p>
        </p:txBody>
      </p:sp>
    </p:spTree>
    <p:extLst>
      <p:ext uri="{BB962C8B-B14F-4D97-AF65-F5344CB8AC3E}">
        <p14:creationId xmlns:p14="http://schemas.microsoft.com/office/powerpoint/2010/main" val="1224004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6712"/>
            <a:ext cx="8229600" cy="5170579"/>
          </a:xfrm>
        </p:spPr>
        <p:txBody>
          <a:bodyPr>
            <a:normAutofit fontScale="85000" lnSpcReduction="20000"/>
          </a:bodyPr>
          <a:lstStyle/>
          <a:p>
            <a:pPr algn="just"/>
            <a:r>
              <a:rPr lang="en-GB" dirty="0"/>
              <a:t>The Jesuits began their evangelical effort with Emperor </a:t>
            </a:r>
            <a:r>
              <a:rPr lang="en-GB" dirty="0" err="1"/>
              <a:t>Gelawdewos</a:t>
            </a:r>
            <a:r>
              <a:rPr lang="en-GB" dirty="0"/>
              <a:t> hoping that the rest of the society would follow suit. </a:t>
            </a:r>
            <a:endParaRPr lang="en-GB" dirty="0" smtClean="0"/>
          </a:p>
          <a:p>
            <a:pPr algn="just"/>
            <a:r>
              <a:rPr lang="en-GB" dirty="0" err="1" smtClean="0"/>
              <a:t>Gelawdewos</a:t>
            </a:r>
            <a:r>
              <a:rPr lang="en-GB" dirty="0" smtClean="0"/>
              <a:t> </a:t>
            </a:r>
            <a:r>
              <a:rPr lang="en-GB" dirty="0"/>
              <a:t>listened and engaged in doctrinal debates with the missionaries. He defended the teachings of EOC in a document entitled the </a:t>
            </a:r>
            <a:r>
              <a:rPr lang="en-GB" dirty="0">
                <a:solidFill>
                  <a:srgbClr val="00B050"/>
                </a:solidFill>
              </a:rPr>
              <a:t>Confession of Faith. </a:t>
            </a:r>
            <a:endParaRPr lang="en-GB" dirty="0" smtClean="0">
              <a:solidFill>
                <a:srgbClr val="00B050"/>
              </a:solidFill>
            </a:endParaRPr>
          </a:p>
          <a:p>
            <a:pPr algn="just"/>
            <a:r>
              <a:rPr lang="en-GB" dirty="0" smtClean="0"/>
              <a:t>The </a:t>
            </a:r>
            <a:r>
              <a:rPr lang="en-GB" dirty="0"/>
              <a:t>Jesuits were not active in the courts of Minas and </a:t>
            </a:r>
            <a:r>
              <a:rPr lang="en-GB" dirty="0" err="1"/>
              <a:t>Sertse-Dengel</a:t>
            </a:r>
            <a:r>
              <a:rPr lang="en-GB" dirty="0"/>
              <a:t>, who were not only hostile against their evangelical efforts but also too busy dealing with other internal and external challenges. </a:t>
            </a:r>
            <a:endParaRPr lang="en-GB" dirty="0" smtClean="0"/>
          </a:p>
          <a:p>
            <a:pPr algn="just"/>
            <a:r>
              <a:rPr lang="en-GB" dirty="0" smtClean="0"/>
              <a:t>The </a:t>
            </a:r>
            <a:r>
              <a:rPr lang="en-GB" dirty="0"/>
              <a:t>Jesuits, under the mission of </a:t>
            </a:r>
            <a:r>
              <a:rPr lang="en-GB" b="1" dirty="0">
                <a:solidFill>
                  <a:srgbClr val="00B050"/>
                </a:solidFill>
              </a:rPr>
              <a:t>Pedro </a:t>
            </a:r>
            <a:r>
              <a:rPr lang="en-GB" b="1" dirty="0" err="1">
                <a:solidFill>
                  <a:srgbClr val="00B050"/>
                </a:solidFill>
              </a:rPr>
              <a:t>Paez</a:t>
            </a:r>
            <a:r>
              <a:rPr lang="en-GB" b="1" dirty="0">
                <a:solidFill>
                  <a:srgbClr val="00B050"/>
                </a:solidFill>
              </a:rPr>
              <a:t>, </a:t>
            </a:r>
            <a:r>
              <a:rPr lang="en-GB" dirty="0"/>
              <a:t>had relative success with Emperor </a:t>
            </a:r>
            <a:r>
              <a:rPr lang="en-GB" b="1" dirty="0" err="1" smtClean="0">
                <a:solidFill>
                  <a:srgbClr val="00B050"/>
                </a:solidFill>
              </a:rPr>
              <a:t>Za</a:t>
            </a:r>
            <a:r>
              <a:rPr lang="en-GB" b="1" dirty="0" smtClean="0">
                <a:solidFill>
                  <a:srgbClr val="00B050"/>
                </a:solidFill>
              </a:rPr>
              <a:t> </a:t>
            </a:r>
            <a:r>
              <a:rPr lang="en-GB" b="1" dirty="0" err="1" smtClean="0">
                <a:solidFill>
                  <a:srgbClr val="00B050"/>
                </a:solidFill>
              </a:rPr>
              <a:t>Dengel</a:t>
            </a:r>
            <a:r>
              <a:rPr lang="en-GB" b="1" dirty="0" smtClean="0">
                <a:solidFill>
                  <a:srgbClr val="00B050"/>
                </a:solidFill>
              </a:rPr>
              <a:t> </a:t>
            </a:r>
            <a:r>
              <a:rPr lang="en-GB" b="1" dirty="0">
                <a:solidFill>
                  <a:srgbClr val="00B050"/>
                </a:solidFill>
              </a:rPr>
              <a:t>(r. 1603–4</a:t>
            </a:r>
            <a:r>
              <a:rPr lang="en-GB" dirty="0"/>
              <a:t>), who was said to have been sympathetic to Catholicism. </a:t>
            </a:r>
            <a:endParaRPr lang="en-GB" dirty="0" smtClean="0"/>
          </a:p>
          <a:p>
            <a:pPr algn="just"/>
            <a:r>
              <a:rPr lang="en-GB" dirty="0" smtClean="0"/>
              <a:t>However</a:t>
            </a:r>
            <a:r>
              <a:rPr lang="en-GB" dirty="0"/>
              <a:t>, he was overthrown by </a:t>
            </a:r>
            <a:r>
              <a:rPr lang="en-GB" dirty="0" err="1"/>
              <a:t>Yaeqob</a:t>
            </a:r>
            <a:r>
              <a:rPr lang="en-GB" dirty="0"/>
              <a:t> (r. 1598-1603; 1604–7). </a:t>
            </a:r>
          </a:p>
        </p:txBody>
      </p:sp>
    </p:spTree>
    <p:extLst>
      <p:ext uri="{BB962C8B-B14F-4D97-AF65-F5344CB8AC3E}">
        <p14:creationId xmlns:p14="http://schemas.microsoft.com/office/powerpoint/2010/main" val="230314274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04664"/>
            <a:ext cx="8229600" cy="5602627"/>
          </a:xfrm>
        </p:spPr>
        <p:txBody>
          <a:bodyPr>
            <a:noAutofit/>
          </a:bodyPr>
          <a:lstStyle/>
          <a:p>
            <a:r>
              <a:rPr lang="en-GB" sz="2400" dirty="0"/>
              <a:t>The role of the Jesuits at the Ethiopian court had a serious impact on the reorganization of the Ethiopian monarchy in the early seventeenth century. </a:t>
            </a:r>
            <a:endParaRPr lang="en-GB" sz="2400" dirty="0" smtClean="0"/>
          </a:p>
          <a:p>
            <a:r>
              <a:rPr lang="en-GB" sz="2400" b="1" dirty="0" err="1" smtClean="0">
                <a:solidFill>
                  <a:srgbClr val="00B050"/>
                </a:solidFill>
              </a:rPr>
              <a:t>Susenyos</a:t>
            </a:r>
            <a:r>
              <a:rPr lang="en-GB" sz="2400" b="1" dirty="0" smtClean="0">
                <a:solidFill>
                  <a:srgbClr val="00B050"/>
                </a:solidFill>
              </a:rPr>
              <a:t> </a:t>
            </a:r>
            <a:r>
              <a:rPr lang="en-GB" sz="2400" b="1" dirty="0">
                <a:solidFill>
                  <a:srgbClr val="00B050"/>
                </a:solidFill>
              </a:rPr>
              <a:t>(r. 1607–32), </a:t>
            </a:r>
            <a:r>
              <a:rPr lang="en-GB" sz="2400" dirty="0"/>
              <a:t>aiming to consolidate his power, strengthened the military regiments by </a:t>
            </a:r>
            <a:r>
              <a:rPr lang="en-GB" sz="2400" b="1" dirty="0">
                <a:solidFill>
                  <a:srgbClr val="00B050"/>
                </a:solidFill>
              </a:rPr>
              <a:t>introducing new Oromo recruits from those Oromo groups who had settled across the core and fertile regions of the kingdom</a:t>
            </a:r>
            <a:r>
              <a:rPr lang="en-GB" sz="2400" b="1" dirty="0" smtClean="0">
                <a:solidFill>
                  <a:srgbClr val="00B050"/>
                </a:solidFill>
              </a:rPr>
              <a:t>.</a:t>
            </a:r>
          </a:p>
          <a:p>
            <a:r>
              <a:rPr lang="en-GB" sz="2400" dirty="0" smtClean="0"/>
              <a:t> </a:t>
            </a:r>
            <a:r>
              <a:rPr lang="en-GB" sz="2400" dirty="0"/>
              <a:t>However, he was </a:t>
            </a:r>
            <a:r>
              <a:rPr lang="en-GB" sz="2400" b="1" dirty="0">
                <a:solidFill>
                  <a:srgbClr val="00B050"/>
                </a:solidFill>
              </a:rPr>
              <a:t>challenged by the provincial governors</a:t>
            </a:r>
            <a:r>
              <a:rPr lang="en-GB" sz="2400" dirty="0"/>
              <a:t> as well as </a:t>
            </a:r>
            <a:r>
              <a:rPr lang="en-GB" sz="2400" b="1" dirty="0">
                <a:solidFill>
                  <a:srgbClr val="00B050"/>
                </a:solidFill>
              </a:rPr>
              <a:t>rebellions by the active fighting Oromo, </a:t>
            </a:r>
            <a:r>
              <a:rPr lang="en-GB" sz="2400" b="1" dirty="0" err="1">
                <a:solidFill>
                  <a:srgbClr val="00B050"/>
                </a:solidFill>
              </a:rPr>
              <a:t>Bete</a:t>
            </a:r>
            <a:r>
              <a:rPr lang="en-GB" sz="2400" b="1" dirty="0">
                <a:solidFill>
                  <a:srgbClr val="00B050"/>
                </a:solidFill>
              </a:rPr>
              <a:t>-Israel, and other groups</a:t>
            </a:r>
            <a:r>
              <a:rPr lang="en-GB" sz="2400" dirty="0"/>
              <a:t>. </a:t>
            </a:r>
            <a:endParaRPr lang="en-GB" sz="2400" dirty="0" smtClean="0"/>
          </a:p>
          <a:p>
            <a:r>
              <a:rPr lang="en-GB" sz="2400" dirty="0" smtClean="0"/>
              <a:t>Thus</a:t>
            </a:r>
            <a:r>
              <a:rPr lang="en-GB" sz="2400" dirty="0"/>
              <a:t>, to </a:t>
            </a:r>
            <a:r>
              <a:rPr lang="en-GB" sz="2400" b="1" dirty="0">
                <a:solidFill>
                  <a:srgbClr val="00B050"/>
                </a:solidFill>
              </a:rPr>
              <a:t>consolidate his power all over the kingdom, he sought for an external alliance, which he got through the diplomatic support of </a:t>
            </a:r>
            <a:r>
              <a:rPr lang="en-GB" sz="2400" b="1" dirty="0" err="1">
                <a:solidFill>
                  <a:srgbClr val="00B050"/>
                </a:solidFill>
              </a:rPr>
              <a:t>Paez</a:t>
            </a:r>
            <a:r>
              <a:rPr lang="en-GB" sz="2400" dirty="0"/>
              <a:t>. </a:t>
            </a:r>
            <a:endParaRPr lang="en-GB" sz="2400" dirty="0" smtClean="0"/>
          </a:p>
        </p:txBody>
      </p:sp>
    </p:spTree>
    <p:extLst>
      <p:ext uri="{BB962C8B-B14F-4D97-AF65-F5344CB8AC3E}">
        <p14:creationId xmlns:p14="http://schemas.microsoft.com/office/powerpoint/2010/main" val="1471164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04664"/>
            <a:ext cx="8229600" cy="5602627"/>
          </a:xfrm>
        </p:spPr>
        <p:txBody>
          <a:bodyPr>
            <a:normAutofit fontScale="92500"/>
          </a:bodyPr>
          <a:lstStyle/>
          <a:p>
            <a:endParaRPr lang="en-GB" sz="2800" dirty="0" smtClean="0"/>
          </a:p>
          <a:p>
            <a:r>
              <a:rPr lang="en-GB" sz="2800" dirty="0" err="1" smtClean="0"/>
              <a:t>Susenyos</a:t>
            </a:r>
            <a:r>
              <a:rPr lang="en-GB" sz="2800" dirty="0" smtClean="0"/>
              <a:t> </a:t>
            </a:r>
            <a:r>
              <a:rPr lang="en-GB" sz="2800" dirty="0"/>
              <a:t>converted to Catholicism </a:t>
            </a:r>
            <a:r>
              <a:rPr lang="en-GB" sz="2800" dirty="0">
                <a:solidFill>
                  <a:srgbClr val="FF0000"/>
                </a:solidFill>
              </a:rPr>
              <a:t>in 1612 and announced it to be the state religion in 1622</a:t>
            </a:r>
            <a:r>
              <a:rPr lang="en-GB" sz="2800" dirty="0"/>
              <a:t>. </a:t>
            </a:r>
            <a:endParaRPr lang="en-GB" sz="2800" dirty="0" smtClean="0"/>
          </a:p>
          <a:p>
            <a:r>
              <a:rPr lang="en-GB" sz="2800" dirty="0"/>
              <a:t> S</a:t>
            </a:r>
            <a:r>
              <a:rPr lang="en-GB" sz="2800" dirty="0" smtClean="0"/>
              <a:t>everal </a:t>
            </a:r>
            <a:r>
              <a:rPr lang="en-GB" sz="2800" dirty="0"/>
              <a:t>anti-Catholic voices emerged following the </a:t>
            </a:r>
            <a:r>
              <a:rPr lang="en-GB" sz="2800" b="1" dirty="0">
                <a:solidFill>
                  <a:srgbClr val="FF0000"/>
                </a:solidFill>
              </a:rPr>
              <a:t>changes in liturgy and religious practices</a:t>
            </a:r>
            <a:r>
              <a:rPr lang="en-GB" sz="2800" dirty="0" smtClean="0"/>
              <a:t>.</a:t>
            </a:r>
          </a:p>
          <a:p>
            <a:r>
              <a:rPr lang="en-GB" sz="2800" dirty="0" smtClean="0"/>
              <a:t> </a:t>
            </a:r>
            <a:r>
              <a:rPr lang="en-GB" sz="2800" dirty="0"/>
              <a:t>Even worse, with the monarch‘s consent, another Spanish Jesuit, </a:t>
            </a:r>
            <a:r>
              <a:rPr lang="en-GB" sz="2800" dirty="0">
                <a:solidFill>
                  <a:srgbClr val="FF0000"/>
                </a:solidFill>
              </a:rPr>
              <a:t>Mendez, ordered </a:t>
            </a:r>
            <a:r>
              <a:rPr lang="en-GB" sz="2800" dirty="0" err="1">
                <a:solidFill>
                  <a:srgbClr val="FF0000"/>
                </a:solidFill>
              </a:rPr>
              <a:t>reconsecration</a:t>
            </a:r>
            <a:r>
              <a:rPr lang="en-GB" sz="2800" dirty="0">
                <a:solidFill>
                  <a:srgbClr val="FF0000"/>
                </a:solidFill>
              </a:rPr>
              <a:t> of the EOC priests and deacons, and rebaptism of the masses</a:t>
            </a:r>
            <a:r>
              <a:rPr lang="en-GB" sz="2800" dirty="0"/>
              <a:t>. </a:t>
            </a:r>
            <a:endParaRPr lang="en-GB" sz="2800" dirty="0" smtClean="0"/>
          </a:p>
          <a:p>
            <a:r>
              <a:rPr lang="en-GB" sz="2800" dirty="0" smtClean="0"/>
              <a:t>Besides</a:t>
            </a:r>
            <a:r>
              <a:rPr lang="en-GB" sz="2800" dirty="0"/>
              <a:t>, he called for the </a:t>
            </a:r>
            <a:r>
              <a:rPr lang="en-GB" sz="2800" b="1" dirty="0">
                <a:solidFill>
                  <a:srgbClr val="00B050"/>
                </a:solidFill>
              </a:rPr>
              <a:t>suspension of Old Testament customs such as male circumcision and the observance of the Sabbath.</a:t>
            </a:r>
          </a:p>
          <a:p>
            <a:endParaRPr lang="en-GB" dirty="0"/>
          </a:p>
        </p:txBody>
      </p:sp>
    </p:spTree>
    <p:extLst>
      <p:ext uri="{BB962C8B-B14F-4D97-AF65-F5344CB8AC3E}">
        <p14:creationId xmlns:p14="http://schemas.microsoft.com/office/powerpoint/2010/main" val="1988191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8640"/>
            <a:ext cx="8229600" cy="5818651"/>
          </a:xfrm>
        </p:spPr>
        <p:txBody>
          <a:bodyPr/>
          <a:lstStyle/>
          <a:p>
            <a:endParaRPr lang="en-GB" dirty="0" smtClean="0"/>
          </a:p>
          <a:p>
            <a:r>
              <a:rPr lang="en-GB" dirty="0" smtClean="0"/>
              <a:t>Additional </a:t>
            </a:r>
            <a:r>
              <a:rPr lang="en-GB" dirty="0"/>
              <a:t>injunctions included </a:t>
            </a:r>
            <a:r>
              <a:rPr lang="en-GB" b="1" dirty="0">
                <a:solidFill>
                  <a:srgbClr val="00B050"/>
                </a:solidFill>
              </a:rPr>
              <a:t>prohibition of preaching in </a:t>
            </a:r>
            <a:r>
              <a:rPr lang="en-GB" b="1" dirty="0" err="1">
                <a:solidFill>
                  <a:srgbClr val="00B050"/>
                </a:solidFill>
              </a:rPr>
              <a:t>Ge‘ez</a:t>
            </a:r>
            <a:r>
              <a:rPr lang="en-GB" b="1" dirty="0">
                <a:solidFill>
                  <a:srgbClr val="00B050"/>
                </a:solidFill>
              </a:rPr>
              <a:t>,</a:t>
            </a:r>
            <a:r>
              <a:rPr lang="en-GB" dirty="0"/>
              <a:t> </a:t>
            </a:r>
            <a:r>
              <a:rPr lang="en-GB" b="1" dirty="0">
                <a:solidFill>
                  <a:srgbClr val="00B050"/>
                </a:solidFill>
              </a:rPr>
              <a:t>fasting on Wednesdays and Fridays</a:t>
            </a:r>
            <a:r>
              <a:rPr lang="en-GB" dirty="0"/>
              <a:t>, </a:t>
            </a:r>
            <a:r>
              <a:rPr lang="en-GB" b="1" dirty="0">
                <a:solidFill>
                  <a:srgbClr val="00B050"/>
                </a:solidFill>
              </a:rPr>
              <a:t>reverence for Ethiopian saints and the Ark of Covenant</a:t>
            </a:r>
            <a:r>
              <a:rPr lang="en-GB" dirty="0"/>
              <a:t>. </a:t>
            </a:r>
            <a:endParaRPr lang="en-GB" dirty="0" smtClean="0"/>
          </a:p>
          <a:p>
            <a:r>
              <a:rPr lang="en-GB" dirty="0"/>
              <a:t>H</a:t>
            </a:r>
            <a:r>
              <a:rPr lang="en-GB" dirty="0" smtClean="0"/>
              <a:t>e </a:t>
            </a:r>
            <a:r>
              <a:rPr lang="en-GB" dirty="0"/>
              <a:t>ordered </a:t>
            </a:r>
            <a:r>
              <a:rPr lang="en-GB" dirty="0">
                <a:solidFill>
                  <a:srgbClr val="FF0000"/>
                </a:solidFill>
              </a:rPr>
              <a:t>eating pork and the adoption of the Latin Mass and the Gregorian calendar</a:t>
            </a:r>
            <a:r>
              <a:rPr lang="en-GB" dirty="0" smtClean="0"/>
              <a:t>.</a:t>
            </a:r>
          </a:p>
          <a:p>
            <a:r>
              <a:rPr lang="en-GB" dirty="0" smtClean="0"/>
              <a:t> </a:t>
            </a:r>
            <a:r>
              <a:rPr lang="en-GB" dirty="0"/>
              <a:t>The reforms led to revolts led by the clergy and the nobility. </a:t>
            </a:r>
            <a:endParaRPr lang="en-GB" dirty="0" smtClean="0"/>
          </a:p>
          <a:p>
            <a:r>
              <a:rPr lang="en-GB" dirty="0" smtClean="0"/>
              <a:t>Even </a:t>
            </a:r>
            <a:r>
              <a:rPr lang="en-GB" dirty="0"/>
              <a:t>loyal followers of the emperor, including his own son </a:t>
            </a:r>
            <a:r>
              <a:rPr lang="en-GB" dirty="0" err="1">
                <a:solidFill>
                  <a:srgbClr val="FF0000"/>
                </a:solidFill>
              </a:rPr>
              <a:t>Fasiledes</a:t>
            </a:r>
            <a:r>
              <a:rPr lang="en-GB" dirty="0">
                <a:solidFill>
                  <a:srgbClr val="FF0000"/>
                </a:solidFill>
              </a:rPr>
              <a:t> (r. 1632-67), </a:t>
            </a:r>
            <a:r>
              <a:rPr lang="en-GB" dirty="0"/>
              <a:t>opposed the changes. </a:t>
            </a:r>
          </a:p>
        </p:txBody>
      </p:sp>
    </p:spTree>
    <p:extLst>
      <p:ext uri="{BB962C8B-B14F-4D97-AF65-F5344CB8AC3E}">
        <p14:creationId xmlns:p14="http://schemas.microsoft.com/office/powerpoint/2010/main" val="1380826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fontScale="85000" lnSpcReduction="10000"/>
          </a:bodyPr>
          <a:lstStyle/>
          <a:p>
            <a:r>
              <a:rPr lang="en-GB" dirty="0"/>
              <a:t>The Jesuits‘ success in their mission to convert Ethiopia to Catholicism </a:t>
            </a:r>
            <a:r>
              <a:rPr lang="en-GB" b="1" dirty="0">
                <a:solidFill>
                  <a:srgbClr val="FF0000"/>
                </a:solidFill>
              </a:rPr>
              <a:t>was short-lived and met with staunch anti-Catholic resistance</a:t>
            </a:r>
            <a:r>
              <a:rPr lang="en-GB" dirty="0"/>
              <a:t>, leading the country into a </a:t>
            </a:r>
            <a:r>
              <a:rPr lang="en-GB" b="1" dirty="0">
                <a:solidFill>
                  <a:srgbClr val="FF0000"/>
                </a:solidFill>
              </a:rPr>
              <a:t>state of civil war and the threat of political disintegration</a:t>
            </a:r>
            <a:r>
              <a:rPr lang="en-GB" dirty="0">
                <a:solidFill>
                  <a:srgbClr val="FF0000"/>
                </a:solidFill>
              </a:rPr>
              <a:t>. </a:t>
            </a:r>
            <a:endParaRPr lang="en-GB" dirty="0" smtClean="0">
              <a:solidFill>
                <a:srgbClr val="FF0000"/>
              </a:solidFill>
            </a:endParaRPr>
          </a:p>
          <a:p>
            <a:r>
              <a:rPr lang="en-GB" dirty="0" smtClean="0"/>
              <a:t> </a:t>
            </a:r>
            <a:r>
              <a:rPr lang="en-GB" dirty="0"/>
              <a:t>In June 1632, a large number of peasants lost their lives in one day battle alone. </a:t>
            </a:r>
            <a:endParaRPr lang="en-GB" dirty="0" smtClean="0"/>
          </a:p>
          <a:p>
            <a:r>
              <a:rPr lang="en-GB" dirty="0" smtClean="0"/>
              <a:t>Finally</a:t>
            </a:r>
            <a:r>
              <a:rPr lang="en-GB" dirty="0"/>
              <a:t>, </a:t>
            </a:r>
            <a:r>
              <a:rPr lang="en-GB" b="1" dirty="0">
                <a:solidFill>
                  <a:srgbClr val="00B050"/>
                </a:solidFill>
              </a:rPr>
              <a:t>Emperor </a:t>
            </a:r>
            <a:r>
              <a:rPr lang="en-GB" b="1" dirty="0" err="1">
                <a:solidFill>
                  <a:srgbClr val="00B050"/>
                </a:solidFill>
              </a:rPr>
              <a:t>Susenyos</a:t>
            </a:r>
            <a:r>
              <a:rPr lang="en-GB" b="1" dirty="0">
                <a:solidFill>
                  <a:srgbClr val="00B050"/>
                </a:solidFill>
              </a:rPr>
              <a:t> abdicated in </a:t>
            </a:r>
            <a:r>
              <a:rPr lang="en-GB" b="1" dirty="0" err="1">
                <a:solidFill>
                  <a:srgbClr val="00B050"/>
                </a:solidFill>
              </a:rPr>
              <a:t>favor</a:t>
            </a:r>
            <a:r>
              <a:rPr lang="en-GB" b="1" dirty="0">
                <a:solidFill>
                  <a:srgbClr val="00B050"/>
                </a:solidFill>
              </a:rPr>
              <a:t> of his son </a:t>
            </a:r>
            <a:r>
              <a:rPr lang="en-GB" b="1" dirty="0" err="1">
                <a:solidFill>
                  <a:srgbClr val="00B050"/>
                </a:solidFill>
              </a:rPr>
              <a:t>Fasiledes</a:t>
            </a:r>
            <a:r>
              <a:rPr lang="en-GB" b="1" dirty="0">
                <a:solidFill>
                  <a:srgbClr val="00B050"/>
                </a:solidFill>
              </a:rPr>
              <a:t>, who restored the EOC</a:t>
            </a:r>
            <a:r>
              <a:rPr lang="en-GB" dirty="0"/>
              <a:t>. </a:t>
            </a:r>
            <a:endParaRPr lang="en-GB" dirty="0" smtClean="0"/>
          </a:p>
          <a:p>
            <a:r>
              <a:rPr lang="en-GB" dirty="0" err="1" smtClean="0"/>
              <a:t>Fasiledes</a:t>
            </a:r>
            <a:r>
              <a:rPr lang="en-GB" dirty="0" smtClean="0"/>
              <a:t> </a:t>
            </a:r>
            <a:r>
              <a:rPr lang="en-GB" dirty="0"/>
              <a:t>took serious measures against the Jesuits, </a:t>
            </a:r>
            <a:r>
              <a:rPr lang="en-GB" b="1" dirty="0">
                <a:solidFill>
                  <a:srgbClr val="00B050"/>
                </a:solidFill>
              </a:rPr>
              <a:t>most of them being expelled from the country</a:t>
            </a:r>
            <a:r>
              <a:rPr lang="en-GB" dirty="0" smtClean="0"/>
              <a:t>.</a:t>
            </a:r>
          </a:p>
          <a:p>
            <a:r>
              <a:rPr lang="en-GB" dirty="0" smtClean="0"/>
              <a:t> </a:t>
            </a:r>
            <a:r>
              <a:rPr lang="en-GB" dirty="0"/>
              <a:t>He also punished local converts, including </a:t>
            </a:r>
            <a:r>
              <a:rPr lang="en-GB" dirty="0" err="1"/>
              <a:t>Susenyos</a:t>
            </a:r>
            <a:r>
              <a:rPr lang="en-GB" dirty="0"/>
              <a:t>‘ brother and the most fervent supporter of Catholicism, </a:t>
            </a:r>
            <a:r>
              <a:rPr lang="en-GB" b="1" dirty="0" err="1">
                <a:solidFill>
                  <a:srgbClr val="00B050"/>
                </a:solidFill>
              </a:rPr>
              <a:t>Se'ela</a:t>
            </a:r>
            <a:r>
              <a:rPr lang="en-GB" b="1" dirty="0">
                <a:solidFill>
                  <a:srgbClr val="00B050"/>
                </a:solidFill>
              </a:rPr>
              <a:t> </a:t>
            </a:r>
            <a:r>
              <a:rPr lang="en-GB" b="1" dirty="0" err="1">
                <a:solidFill>
                  <a:srgbClr val="00B050"/>
                </a:solidFill>
              </a:rPr>
              <a:t>Kristos</a:t>
            </a:r>
            <a:r>
              <a:rPr lang="en-GB" b="1" dirty="0">
                <a:solidFill>
                  <a:srgbClr val="00B050"/>
                </a:solidFill>
              </a:rPr>
              <a:t>, and </a:t>
            </a:r>
            <a:r>
              <a:rPr lang="en-GB" b="1" dirty="0" err="1">
                <a:solidFill>
                  <a:srgbClr val="00B050"/>
                </a:solidFill>
              </a:rPr>
              <a:t>Azazh</a:t>
            </a:r>
            <a:r>
              <a:rPr lang="en-GB" b="1" dirty="0">
                <a:solidFill>
                  <a:srgbClr val="00B050"/>
                </a:solidFill>
              </a:rPr>
              <a:t> </a:t>
            </a:r>
            <a:r>
              <a:rPr lang="en-GB" b="1" dirty="0" err="1">
                <a:solidFill>
                  <a:srgbClr val="00B050"/>
                </a:solidFill>
              </a:rPr>
              <a:t>Tino</a:t>
            </a:r>
            <a:r>
              <a:rPr lang="en-GB" dirty="0"/>
              <a:t>, the Oromo Catholic convert, who was a </a:t>
            </a:r>
            <a:r>
              <a:rPr lang="en-GB" b="1" dirty="0">
                <a:solidFill>
                  <a:srgbClr val="C00000"/>
                </a:solidFill>
              </a:rPr>
              <a:t>court intellectual, royal chronicler and councillor of Emperor </a:t>
            </a:r>
            <a:r>
              <a:rPr lang="en-GB" b="1" dirty="0" err="1">
                <a:solidFill>
                  <a:srgbClr val="C00000"/>
                </a:solidFill>
              </a:rPr>
              <a:t>Susenyos</a:t>
            </a:r>
            <a:endParaRPr lang="en-GB" b="1" dirty="0">
              <a:solidFill>
                <a:srgbClr val="C00000"/>
              </a:solidFill>
            </a:endParaRPr>
          </a:p>
        </p:txBody>
      </p:sp>
    </p:spTree>
    <p:extLst>
      <p:ext uri="{BB962C8B-B14F-4D97-AF65-F5344CB8AC3E}">
        <p14:creationId xmlns:p14="http://schemas.microsoft.com/office/powerpoint/2010/main" val="2770186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a:bodyPr>
          <a:lstStyle/>
          <a:p>
            <a:r>
              <a:rPr lang="en-GB" dirty="0"/>
              <a:t> </a:t>
            </a:r>
            <a:r>
              <a:rPr lang="en-GB" dirty="0" err="1"/>
              <a:t>Fasiledes</a:t>
            </a:r>
            <a:r>
              <a:rPr lang="en-GB" dirty="0"/>
              <a:t> introduced a ―</a:t>
            </a:r>
            <a:r>
              <a:rPr lang="en-GB" b="1" dirty="0" smtClean="0">
                <a:solidFill>
                  <a:srgbClr val="C00000"/>
                </a:solidFill>
              </a:rPr>
              <a:t>closed-door </a:t>
            </a:r>
            <a:r>
              <a:rPr lang="en-GB" b="1" dirty="0">
                <a:solidFill>
                  <a:srgbClr val="C00000"/>
                </a:solidFill>
              </a:rPr>
              <a:t>policy</a:t>
            </a:r>
            <a:r>
              <a:rPr lang="en-GB" dirty="0"/>
              <a:t>, which isolated the country from all Europeans </a:t>
            </a:r>
            <a:r>
              <a:rPr lang="en-GB" b="1" dirty="0">
                <a:solidFill>
                  <a:srgbClr val="00B050"/>
                </a:solidFill>
              </a:rPr>
              <a:t>for about a century and a half until the beginning of the nineteenth century</a:t>
            </a:r>
            <a:r>
              <a:rPr lang="en-GB" dirty="0"/>
              <a:t>, with the exception of the visits by a French pharmacist, </a:t>
            </a:r>
            <a:r>
              <a:rPr lang="en-GB" b="1" dirty="0">
                <a:solidFill>
                  <a:srgbClr val="00B050"/>
                </a:solidFill>
              </a:rPr>
              <a:t>Charles Jacques </a:t>
            </a:r>
            <a:r>
              <a:rPr lang="en-GB" b="1" dirty="0" err="1">
                <a:solidFill>
                  <a:srgbClr val="00B050"/>
                </a:solidFill>
              </a:rPr>
              <a:t>Poncet</a:t>
            </a:r>
            <a:r>
              <a:rPr lang="en-GB" dirty="0"/>
              <a:t>, and a </a:t>
            </a:r>
            <a:r>
              <a:rPr lang="en-GB" dirty="0">
                <a:solidFill>
                  <a:srgbClr val="00B050"/>
                </a:solidFill>
              </a:rPr>
              <a:t>Scottish </a:t>
            </a:r>
            <a:r>
              <a:rPr lang="en-GB" dirty="0" err="1">
                <a:solidFill>
                  <a:srgbClr val="00B050"/>
                </a:solidFill>
              </a:rPr>
              <a:t>traveler</a:t>
            </a:r>
            <a:r>
              <a:rPr lang="en-GB" dirty="0">
                <a:solidFill>
                  <a:srgbClr val="00B050"/>
                </a:solidFill>
              </a:rPr>
              <a:t>, James Bruce</a:t>
            </a:r>
            <a:r>
              <a:rPr lang="en-GB" dirty="0"/>
              <a:t>, in 1700 and 1769, </a:t>
            </a:r>
            <a:r>
              <a:rPr lang="en-GB" dirty="0" smtClean="0"/>
              <a:t>respectively</a:t>
            </a:r>
            <a:r>
              <a:rPr lang="en-GB" dirty="0"/>
              <a:t>. </a:t>
            </a:r>
            <a:endParaRPr lang="en-GB" dirty="0" smtClean="0"/>
          </a:p>
          <a:p>
            <a:r>
              <a:rPr lang="en-GB" dirty="0" smtClean="0"/>
              <a:t>Conversely</a:t>
            </a:r>
            <a:r>
              <a:rPr lang="en-GB" dirty="0"/>
              <a:t>, he concluded </a:t>
            </a:r>
            <a:r>
              <a:rPr lang="en-GB" b="1" dirty="0">
                <a:solidFill>
                  <a:srgbClr val="00B050"/>
                </a:solidFill>
              </a:rPr>
              <a:t>an accord in 1647 with the </a:t>
            </a:r>
            <a:r>
              <a:rPr lang="en-GB" b="1" dirty="0" smtClean="0">
                <a:solidFill>
                  <a:srgbClr val="00B050"/>
                </a:solidFill>
              </a:rPr>
              <a:t>Ottoman pasha at </a:t>
            </a:r>
            <a:r>
              <a:rPr lang="en-GB" b="1" dirty="0" err="1" smtClean="0">
                <a:solidFill>
                  <a:srgbClr val="00B050"/>
                </a:solidFill>
              </a:rPr>
              <a:t>Suakin</a:t>
            </a:r>
            <a:r>
              <a:rPr lang="en-GB" b="1" dirty="0" smtClean="0">
                <a:solidFill>
                  <a:srgbClr val="00B050"/>
                </a:solidFill>
              </a:rPr>
              <a:t> and </a:t>
            </a:r>
            <a:r>
              <a:rPr lang="en-GB" b="1" dirty="0" err="1" smtClean="0">
                <a:solidFill>
                  <a:srgbClr val="00B050"/>
                </a:solidFill>
              </a:rPr>
              <a:t>Massawa</a:t>
            </a:r>
            <a:r>
              <a:rPr lang="en-GB" b="1" dirty="0" smtClean="0">
                <a:solidFill>
                  <a:srgbClr val="00B050"/>
                </a:solidFill>
              </a:rPr>
              <a:t> to </a:t>
            </a:r>
            <a:r>
              <a:rPr lang="en-GB" b="1" dirty="0">
                <a:solidFill>
                  <a:srgbClr val="00B050"/>
                </a:solidFill>
              </a:rPr>
              <a:t>block Europeans </a:t>
            </a:r>
            <a:r>
              <a:rPr lang="en-GB" b="1" dirty="0" smtClean="0">
                <a:solidFill>
                  <a:srgbClr val="00B050"/>
                </a:solidFill>
              </a:rPr>
              <a:t>from </a:t>
            </a:r>
            <a:r>
              <a:rPr lang="en-GB" b="1" dirty="0">
                <a:solidFill>
                  <a:srgbClr val="00B050"/>
                </a:solidFill>
              </a:rPr>
              <a:t>entering the </a:t>
            </a:r>
            <a:r>
              <a:rPr lang="en-GB" b="1" dirty="0" smtClean="0">
                <a:solidFill>
                  <a:srgbClr val="00B050"/>
                </a:solidFill>
              </a:rPr>
              <a:t>Horn/</a:t>
            </a:r>
            <a:endParaRPr lang="en-GB" b="1" dirty="0">
              <a:solidFill>
                <a:srgbClr val="00B050"/>
              </a:solidFill>
            </a:endParaRPr>
          </a:p>
        </p:txBody>
      </p:sp>
    </p:spTree>
    <p:extLst>
      <p:ext uri="{BB962C8B-B14F-4D97-AF65-F5344CB8AC3E}">
        <p14:creationId xmlns:p14="http://schemas.microsoft.com/office/powerpoint/2010/main" val="809555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normAutofit lnSpcReduction="10000"/>
          </a:bodyPr>
          <a:lstStyle/>
          <a:p>
            <a:r>
              <a:rPr lang="en-GB" dirty="0"/>
              <a:t>T</a:t>
            </a:r>
            <a:r>
              <a:rPr lang="en-GB" dirty="0" smtClean="0"/>
              <a:t>he </a:t>
            </a:r>
            <a:r>
              <a:rPr lang="en-GB" dirty="0"/>
              <a:t>Jesuit intervention had lasting ramification as it triggered </a:t>
            </a:r>
            <a:r>
              <a:rPr lang="en-GB" b="1" dirty="0">
                <a:solidFill>
                  <a:srgbClr val="00B050"/>
                </a:solidFill>
              </a:rPr>
              <a:t>further doctrinal divisions and controversies within the EOC</a:t>
            </a:r>
            <a:r>
              <a:rPr lang="en-GB" dirty="0"/>
              <a:t>, which came to be divided into disputant sects and reached its peak during the </a:t>
            </a:r>
            <a:r>
              <a:rPr lang="en-GB" dirty="0" err="1"/>
              <a:t>Zemene</a:t>
            </a:r>
            <a:r>
              <a:rPr lang="en-GB" dirty="0"/>
              <a:t>- </a:t>
            </a:r>
            <a:r>
              <a:rPr lang="en-GB" dirty="0" err="1"/>
              <a:t>Mesafint</a:t>
            </a:r>
            <a:r>
              <a:rPr lang="en-GB" dirty="0"/>
              <a:t>. </a:t>
            </a:r>
            <a:endParaRPr lang="en-GB" dirty="0" smtClean="0"/>
          </a:p>
          <a:p>
            <a:r>
              <a:rPr lang="en-GB" dirty="0" smtClean="0"/>
              <a:t>The </a:t>
            </a:r>
            <a:r>
              <a:rPr lang="en-GB" b="1" dirty="0" err="1">
                <a:solidFill>
                  <a:srgbClr val="FF0000"/>
                </a:solidFill>
              </a:rPr>
              <a:t>tewahedo</a:t>
            </a:r>
            <a:r>
              <a:rPr lang="en-GB" b="1" dirty="0">
                <a:solidFill>
                  <a:srgbClr val="FF0000"/>
                </a:solidFill>
              </a:rPr>
              <a:t> doctrine </a:t>
            </a:r>
            <a:r>
              <a:rPr lang="en-GB" dirty="0"/>
              <a:t>teaches </a:t>
            </a:r>
            <a:r>
              <a:rPr lang="en-GB" dirty="0" err="1">
                <a:solidFill>
                  <a:srgbClr val="FF0000"/>
                </a:solidFill>
              </a:rPr>
              <a:t>hulet</a:t>
            </a:r>
            <a:r>
              <a:rPr lang="en-GB" dirty="0">
                <a:solidFill>
                  <a:srgbClr val="FF0000"/>
                </a:solidFill>
              </a:rPr>
              <a:t> </a:t>
            </a:r>
            <a:r>
              <a:rPr lang="en-GB" dirty="0" err="1">
                <a:solidFill>
                  <a:srgbClr val="FF0000"/>
                </a:solidFill>
              </a:rPr>
              <a:t>lidet</a:t>
            </a:r>
            <a:r>
              <a:rPr lang="en-GB" dirty="0">
                <a:solidFill>
                  <a:srgbClr val="FF0000"/>
                </a:solidFill>
              </a:rPr>
              <a:t> </a:t>
            </a:r>
            <a:r>
              <a:rPr lang="en-GB" dirty="0"/>
              <a:t>(two births) of Christ: </a:t>
            </a:r>
            <a:r>
              <a:rPr lang="en-GB" dirty="0">
                <a:solidFill>
                  <a:srgbClr val="00B050"/>
                </a:solidFill>
              </a:rPr>
              <a:t>first in </a:t>
            </a:r>
            <a:r>
              <a:rPr lang="en-GB" dirty="0">
                <a:solidFill>
                  <a:srgbClr val="FF0000"/>
                </a:solidFill>
              </a:rPr>
              <a:t>eternity</a:t>
            </a:r>
            <a:r>
              <a:rPr lang="en-GB" dirty="0">
                <a:solidFill>
                  <a:srgbClr val="00B050"/>
                </a:solidFill>
              </a:rPr>
              <a:t> as a Divine Being, the </a:t>
            </a:r>
            <a:r>
              <a:rPr lang="en-GB" dirty="0">
                <a:solidFill>
                  <a:srgbClr val="FF0000"/>
                </a:solidFill>
              </a:rPr>
              <a:t>eternal birth</a:t>
            </a:r>
            <a:r>
              <a:rPr lang="en-GB" dirty="0">
                <a:solidFill>
                  <a:srgbClr val="00B050"/>
                </a:solidFill>
              </a:rPr>
              <a:t>, and second </a:t>
            </a:r>
            <a:r>
              <a:rPr lang="en-GB" dirty="0">
                <a:solidFill>
                  <a:srgbClr val="FF0000"/>
                </a:solidFill>
              </a:rPr>
              <a:t>born again from St. Mary </a:t>
            </a:r>
            <a:r>
              <a:rPr lang="en-GB" dirty="0">
                <a:solidFill>
                  <a:srgbClr val="00B050"/>
                </a:solidFill>
              </a:rPr>
              <a:t>into the world as a </a:t>
            </a:r>
            <a:r>
              <a:rPr lang="en-GB" dirty="0">
                <a:solidFill>
                  <a:srgbClr val="FF0000"/>
                </a:solidFill>
              </a:rPr>
              <a:t>perfect man and perfect divinity united in one nature. </a:t>
            </a:r>
            <a:endParaRPr lang="en-GB" dirty="0" smtClean="0">
              <a:solidFill>
                <a:srgbClr val="FF0000"/>
              </a:solidFill>
            </a:endParaRPr>
          </a:p>
          <a:p>
            <a:r>
              <a:rPr lang="en-GB" dirty="0" smtClean="0"/>
              <a:t>It </a:t>
            </a:r>
            <a:r>
              <a:rPr lang="en-GB" dirty="0"/>
              <a:t>was dominant in </a:t>
            </a:r>
            <a:r>
              <a:rPr lang="en-GB" dirty="0" err="1">
                <a:solidFill>
                  <a:srgbClr val="00B050"/>
                </a:solidFill>
              </a:rPr>
              <a:t>Tigray</a:t>
            </a:r>
            <a:r>
              <a:rPr lang="en-GB" dirty="0">
                <a:solidFill>
                  <a:srgbClr val="00B050"/>
                </a:solidFill>
              </a:rPr>
              <a:t> and </a:t>
            </a:r>
            <a:r>
              <a:rPr lang="en-GB" dirty="0" err="1">
                <a:solidFill>
                  <a:srgbClr val="00B050"/>
                </a:solidFill>
              </a:rPr>
              <a:t>Lasta</a:t>
            </a:r>
            <a:r>
              <a:rPr lang="en-GB" dirty="0">
                <a:solidFill>
                  <a:srgbClr val="00B050"/>
                </a:solidFill>
              </a:rPr>
              <a:t>. </a:t>
            </a:r>
          </a:p>
          <a:p>
            <a:endParaRPr lang="en-GB" dirty="0">
              <a:solidFill>
                <a:srgbClr val="00B050"/>
              </a:solidFill>
            </a:endParaRPr>
          </a:p>
        </p:txBody>
      </p:sp>
    </p:spTree>
    <p:extLst>
      <p:ext uri="{BB962C8B-B14F-4D97-AF65-F5344CB8AC3E}">
        <p14:creationId xmlns:p14="http://schemas.microsoft.com/office/powerpoint/2010/main" val="32209106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60648"/>
            <a:ext cx="8229600" cy="5746643"/>
          </a:xfrm>
        </p:spPr>
        <p:txBody>
          <a:bodyPr>
            <a:normAutofit fontScale="77500" lnSpcReduction="20000"/>
          </a:bodyPr>
          <a:lstStyle/>
          <a:p>
            <a:endParaRPr lang="en-GB" dirty="0" smtClean="0"/>
          </a:p>
          <a:p>
            <a:r>
              <a:rPr lang="en-GB" dirty="0" smtClean="0"/>
              <a:t> </a:t>
            </a:r>
            <a:r>
              <a:rPr lang="en-GB" dirty="0" err="1">
                <a:solidFill>
                  <a:srgbClr val="FF0000"/>
                </a:solidFill>
              </a:rPr>
              <a:t>Qibat</a:t>
            </a:r>
            <a:r>
              <a:rPr lang="en-GB" dirty="0"/>
              <a:t> (Unction) initially </a:t>
            </a:r>
            <a:r>
              <a:rPr lang="en-GB" dirty="0">
                <a:solidFill>
                  <a:srgbClr val="FF0000"/>
                </a:solidFill>
              </a:rPr>
              <a:t>branched off from the </a:t>
            </a:r>
            <a:r>
              <a:rPr lang="en-GB" dirty="0" err="1">
                <a:solidFill>
                  <a:srgbClr val="FF0000"/>
                </a:solidFill>
              </a:rPr>
              <a:t>hulet</a:t>
            </a:r>
            <a:r>
              <a:rPr lang="en-GB" dirty="0">
                <a:solidFill>
                  <a:srgbClr val="FF0000"/>
                </a:solidFill>
              </a:rPr>
              <a:t> </a:t>
            </a:r>
            <a:r>
              <a:rPr lang="en-GB" dirty="0" err="1">
                <a:solidFill>
                  <a:srgbClr val="FF0000"/>
                </a:solidFill>
              </a:rPr>
              <a:t>lidet</a:t>
            </a:r>
            <a:r>
              <a:rPr lang="en-GB" dirty="0">
                <a:solidFill>
                  <a:srgbClr val="FF0000"/>
                </a:solidFill>
              </a:rPr>
              <a:t> doctrine </a:t>
            </a:r>
            <a:r>
              <a:rPr lang="en-GB" dirty="0"/>
              <a:t>and accepted the eternal birth as the first birth of Christ, but claimed that at his incarnation, when he was born into the world</a:t>
            </a:r>
            <a:r>
              <a:rPr lang="en-GB" dirty="0">
                <a:solidFill>
                  <a:srgbClr val="FF0000"/>
                </a:solidFill>
              </a:rPr>
              <a:t>, Holy Spirit anointed him. </a:t>
            </a:r>
            <a:endParaRPr lang="en-GB" dirty="0" smtClean="0">
              <a:solidFill>
                <a:srgbClr val="FF0000"/>
              </a:solidFill>
            </a:endParaRPr>
          </a:p>
          <a:p>
            <a:r>
              <a:rPr lang="en-GB" dirty="0" smtClean="0"/>
              <a:t>This </a:t>
            </a:r>
            <a:r>
              <a:rPr lang="en-GB" dirty="0"/>
              <a:t>sect was dominant in </a:t>
            </a:r>
            <a:r>
              <a:rPr lang="en-GB" dirty="0" err="1">
                <a:solidFill>
                  <a:srgbClr val="FF0000"/>
                </a:solidFill>
              </a:rPr>
              <a:t>Gojjam</a:t>
            </a:r>
            <a:r>
              <a:rPr lang="en-GB" dirty="0"/>
              <a:t>. </a:t>
            </a:r>
            <a:endParaRPr lang="en-GB" dirty="0" smtClean="0"/>
          </a:p>
          <a:p>
            <a:r>
              <a:rPr lang="en-GB" dirty="0" err="1" smtClean="0">
                <a:solidFill>
                  <a:srgbClr val="FF0000"/>
                </a:solidFill>
              </a:rPr>
              <a:t>Sost</a:t>
            </a:r>
            <a:r>
              <a:rPr lang="en-GB" dirty="0" smtClean="0">
                <a:solidFill>
                  <a:srgbClr val="FF0000"/>
                </a:solidFill>
              </a:rPr>
              <a:t> </a:t>
            </a:r>
            <a:r>
              <a:rPr lang="en-GB" dirty="0" err="1">
                <a:solidFill>
                  <a:srgbClr val="FF0000"/>
                </a:solidFill>
              </a:rPr>
              <a:t>Lidet</a:t>
            </a:r>
            <a:r>
              <a:rPr lang="en-GB" dirty="0">
                <a:solidFill>
                  <a:srgbClr val="FF0000"/>
                </a:solidFill>
              </a:rPr>
              <a:t> (Three Births) (</a:t>
            </a:r>
            <a:r>
              <a:rPr lang="en-GB" dirty="0" err="1">
                <a:solidFill>
                  <a:srgbClr val="FF0000"/>
                </a:solidFill>
              </a:rPr>
              <a:t>Ya</a:t>
            </a:r>
            <a:r>
              <a:rPr lang="en-GB" dirty="0">
                <a:solidFill>
                  <a:srgbClr val="FF0000"/>
                </a:solidFill>
              </a:rPr>
              <a:t> </a:t>
            </a:r>
            <a:r>
              <a:rPr lang="en-GB" dirty="0" err="1">
                <a:solidFill>
                  <a:srgbClr val="FF0000"/>
                </a:solidFill>
              </a:rPr>
              <a:t>Tsega</a:t>
            </a:r>
            <a:r>
              <a:rPr lang="en-GB" dirty="0">
                <a:solidFill>
                  <a:srgbClr val="FF0000"/>
                </a:solidFill>
              </a:rPr>
              <a:t> </a:t>
            </a:r>
            <a:r>
              <a:rPr lang="en-GB" dirty="0" err="1">
                <a:solidFill>
                  <a:srgbClr val="FF0000"/>
                </a:solidFill>
              </a:rPr>
              <a:t>Lij</a:t>
            </a:r>
            <a:r>
              <a:rPr lang="en-GB" dirty="0">
                <a:solidFill>
                  <a:srgbClr val="FF0000"/>
                </a:solidFill>
              </a:rPr>
              <a:t>/Son through Grace) </a:t>
            </a:r>
            <a:r>
              <a:rPr lang="en-GB" dirty="0"/>
              <a:t>taught that Christ was first born in eternity as divine being, was born again in the </a:t>
            </a:r>
            <a:r>
              <a:rPr lang="en-GB" dirty="0">
                <a:solidFill>
                  <a:srgbClr val="FF0000"/>
                </a:solidFill>
              </a:rPr>
              <a:t>womb of St. Mary </a:t>
            </a:r>
            <a:r>
              <a:rPr lang="en-GB" dirty="0"/>
              <a:t>and </a:t>
            </a:r>
            <a:r>
              <a:rPr lang="en-GB" dirty="0">
                <a:solidFill>
                  <a:srgbClr val="FF0000"/>
                </a:solidFill>
              </a:rPr>
              <a:t>anointed by Holy Spirit</a:t>
            </a:r>
            <a:r>
              <a:rPr lang="en-GB" dirty="0"/>
              <a:t>, when he was born into the world. </a:t>
            </a:r>
            <a:endParaRPr lang="en-GB" dirty="0" smtClean="0"/>
          </a:p>
          <a:p>
            <a:r>
              <a:rPr lang="en-GB" dirty="0" smtClean="0"/>
              <a:t>This </a:t>
            </a:r>
            <a:r>
              <a:rPr lang="en-GB" dirty="0"/>
              <a:t>sect was dominant in </a:t>
            </a:r>
            <a:r>
              <a:rPr lang="en-GB" dirty="0" err="1">
                <a:solidFill>
                  <a:srgbClr val="FF0000"/>
                </a:solidFill>
              </a:rPr>
              <a:t>Gonder</a:t>
            </a:r>
            <a:r>
              <a:rPr lang="en-GB" dirty="0">
                <a:solidFill>
                  <a:srgbClr val="FF0000"/>
                </a:solidFill>
              </a:rPr>
              <a:t> and </a:t>
            </a:r>
            <a:r>
              <a:rPr lang="en-GB" dirty="0" err="1">
                <a:solidFill>
                  <a:srgbClr val="FF0000"/>
                </a:solidFill>
              </a:rPr>
              <a:t>Shewa</a:t>
            </a:r>
            <a:r>
              <a:rPr lang="en-GB" dirty="0"/>
              <a:t>. </a:t>
            </a:r>
            <a:endParaRPr lang="en-GB" dirty="0" smtClean="0"/>
          </a:p>
          <a:p>
            <a:r>
              <a:rPr lang="en-GB" dirty="0" smtClean="0"/>
              <a:t>The </a:t>
            </a:r>
            <a:r>
              <a:rPr lang="en-GB" dirty="0"/>
              <a:t>doctrinal divisions, which usually took on regional forms, persisted until the </a:t>
            </a:r>
            <a:r>
              <a:rPr lang="en-GB" b="1" dirty="0">
                <a:solidFill>
                  <a:srgbClr val="00B050"/>
                </a:solidFill>
              </a:rPr>
              <a:t>Council of </a:t>
            </a:r>
            <a:r>
              <a:rPr lang="en-GB" b="1" dirty="0" err="1">
                <a:solidFill>
                  <a:srgbClr val="00B050"/>
                </a:solidFill>
              </a:rPr>
              <a:t>Boru</a:t>
            </a:r>
            <a:r>
              <a:rPr lang="en-GB" b="1" dirty="0">
                <a:solidFill>
                  <a:srgbClr val="00B050"/>
                </a:solidFill>
              </a:rPr>
              <a:t> </a:t>
            </a:r>
            <a:r>
              <a:rPr lang="en-GB" b="1" dirty="0" err="1">
                <a:solidFill>
                  <a:srgbClr val="00B050"/>
                </a:solidFill>
              </a:rPr>
              <a:t>Meda</a:t>
            </a:r>
            <a:r>
              <a:rPr lang="en-GB" b="1" dirty="0">
                <a:solidFill>
                  <a:srgbClr val="00B050"/>
                </a:solidFill>
              </a:rPr>
              <a:t> (1878),</a:t>
            </a:r>
            <a:r>
              <a:rPr lang="en-GB" dirty="0"/>
              <a:t> when </a:t>
            </a:r>
            <a:r>
              <a:rPr lang="en-GB" dirty="0" err="1">
                <a:solidFill>
                  <a:srgbClr val="00B050"/>
                </a:solidFill>
              </a:rPr>
              <a:t>tewahedo</a:t>
            </a:r>
            <a:r>
              <a:rPr lang="en-GB" dirty="0">
                <a:solidFill>
                  <a:srgbClr val="00B050"/>
                </a:solidFill>
              </a:rPr>
              <a:t> was accepted as the official doctrine of the EOC. </a:t>
            </a:r>
            <a:endParaRPr lang="en-GB" dirty="0" smtClean="0">
              <a:solidFill>
                <a:srgbClr val="00B050"/>
              </a:solidFill>
            </a:endParaRPr>
          </a:p>
          <a:p>
            <a:r>
              <a:rPr lang="en-GB" dirty="0" smtClean="0"/>
              <a:t>Over </a:t>
            </a:r>
            <a:r>
              <a:rPr lang="en-GB" dirty="0"/>
              <a:t>and above their doctrinal significance, these controversies had important </a:t>
            </a:r>
            <a:r>
              <a:rPr lang="en-GB" b="1" dirty="0">
                <a:solidFill>
                  <a:srgbClr val="00B050"/>
                </a:solidFill>
              </a:rPr>
              <a:t>political implications </a:t>
            </a:r>
            <a:r>
              <a:rPr lang="en-GB" dirty="0"/>
              <a:t>as </a:t>
            </a:r>
            <a:r>
              <a:rPr lang="en-GB" b="1" dirty="0">
                <a:solidFill>
                  <a:srgbClr val="00B050"/>
                </a:solidFill>
              </a:rPr>
              <a:t>regional rulers endorsed rival doctrines </a:t>
            </a:r>
            <a:r>
              <a:rPr lang="en-GB" dirty="0"/>
              <a:t>in their bid for dominance</a:t>
            </a:r>
          </a:p>
        </p:txBody>
      </p:sp>
    </p:spTree>
    <p:extLst>
      <p:ext uri="{BB962C8B-B14F-4D97-AF65-F5344CB8AC3E}">
        <p14:creationId xmlns:p14="http://schemas.microsoft.com/office/powerpoint/2010/main" val="4607811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GB" dirty="0"/>
              <a:t>Population movements that occurred on varied scales have played important roles in shaping the history of the Horn</a:t>
            </a:r>
            <a:r>
              <a:rPr lang="en-GB" dirty="0" smtClean="0"/>
              <a:t>.</a:t>
            </a:r>
          </a:p>
          <a:p>
            <a:r>
              <a:rPr lang="en-GB" dirty="0" smtClean="0"/>
              <a:t> </a:t>
            </a:r>
            <a:r>
              <a:rPr lang="en-GB" dirty="0"/>
              <a:t>People moved from place to place due to </a:t>
            </a:r>
            <a:r>
              <a:rPr lang="en-GB" b="1" dirty="0">
                <a:solidFill>
                  <a:srgbClr val="00B050"/>
                </a:solidFill>
              </a:rPr>
              <a:t>pull and push factors,</a:t>
            </a:r>
            <a:r>
              <a:rPr lang="en-GB" dirty="0">
                <a:solidFill>
                  <a:srgbClr val="00B050"/>
                </a:solidFill>
              </a:rPr>
              <a:t> </a:t>
            </a:r>
            <a:r>
              <a:rPr lang="en-GB" dirty="0"/>
              <a:t>which can be summed up as </a:t>
            </a:r>
            <a:r>
              <a:rPr lang="en-GB" dirty="0">
                <a:solidFill>
                  <a:srgbClr val="FF0000"/>
                </a:solidFill>
              </a:rPr>
              <a:t>natural and social causes </a:t>
            </a:r>
            <a:r>
              <a:rPr lang="en-GB" dirty="0"/>
              <a:t>that could be attributed to the region's </a:t>
            </a:r>
            <a:r>
              <a:rPr lang="en-GB" b="1" dirty="0">
                <a:solidFill>
                  <a:srgbClr val="00B050"/>
                </a:solidFill>
              </a:rPr>
              <a:t>enduring </a:t>
            </a:r>
            <a:r>
              <a:rPr lang="en-GB" b="1" dirty="0" err="1">
                <a:solidFill>
                  <a:srgbClr val="00B050"/>
                </a:solidFill>
              </a:rPr>
              <a:t>sociopolitical</a:t>
            </a:r>
            <a:r>
              <a:rPr lang="en-GB" b="1" dirty="0">
                <a:solidFill>
                  <a:srgbClr val="00B050"/>
                </a:solidFill>
              </a:rPr>
              <a:t> conditions</a:t>
            </a:r>
            <a:r>
              <a:rPr lang="en-GB" dirty="0" smtClean="0"/>
              <a:t>.</a:t>
            </a:r>
          </a:p>
          <a:p>
            <a:r>
              <a:rPr lang="en-GB" dirty="0" smtClean="0"/>
              <a:t> </a:t>
            </a:r>
            <a:r>
              <a:rPr lang="en-GB" dirty="0"/>
              <a:t>The medieval population movements had extensive effects including peoples intermingling resulted in </a:t>
            </a:r>
            <a:r>
              <a:rPr lang="en-GB" b="1" dirty="0">
                <a:solidFill>
                  <a:srgbClr val="00B050"/>
                </a:solidFill>
              </a:rPr>
              <a:t>change of the original culture and evolution of new </a:t>
            </a:r>
            <a:r>
              <a:rPr lang="en-GB" b="1" dirty="0" smtClean="0">
                <a:solidFill>
                  <a:srgbClr val="00B050"/>
                </a:solidFill>
              </a:rPr>
              <a:t>identities. </a:t>
            </a:r>
            <a:endParaRPr lang="en-GB" b="1" dirty="0">
              <a:solidFill>
                <a:srgbClr val="00B050"/>
              </a:solidFill>
            </a:endParaRPr>
          </a:p>
        </p:txBody>
      </p:sp>
      <p:sp>
        <p:nvSpPr>
          <p:cNvPr id="3" name="Title 2"/>
          <p:cNvSpPr>
            <a:spLocks noGrp="1"/>
          </p:cNvSpPr>
          <p:nvPr>
            <p:ph type="title"/>
          </p:nvPr>
        </p:nvSpPr>
        <p:spPr/>
        <p:txBody>
          <a:bodyPr/>
          <a:lstStyle/>
          <a:p>
            <a:r>
              <a:rPr lang="en-GB" dirty="0">
                <a:solidFill>
                  <a:srgbClr val="FF0000"/>
                </a:solidFill>
              </a:rPr>
              <a:t>5.3. Population Movements</a:t>
            </a:r>
          </a:p>
        </p:txBody>
      </p:sp>
    </p:spTree>
    <p:extLst>
      <p:ext uri="{BB962C8B-B14F-4D97-AF65-F5344CB8AC3E}">
        <p14:creationId xmlns:p14="http://schemas.microsoft.com/office/powerpoint/2010/main" val="706648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GB" dirty="0"/>
              <a:t>Although </a:t>
            </a:r>
            <a:r>
              <a:rPr lang="en-GB" dirty="0">
                <a:solidFill>
                  <a:srgbClr val="FF0000"/>
                </a:solidFill>
              </a:rPr>
              <a:t>pressure on the environment </a:t>
            </a:r>
            <a:r>
              <a:rPr lang="en-GB" dirty="0"/>
              <a:t>was generally a major factor in population movements, the population movement of the </a:t>
            </a:r>
            <a:r>
              <a:rPr lang="en-GB" dirty="0" err="1">
                <a:solidFill>
                  <a:srgbClr val="FF0000"/>
                </a:solidFill>
              </a:rPr>
              <a:t>Argobba</a:t>
            </a:r>
            <a:r>
              <a:rPr lang="en-GB" dirty="0">
                <a:solidFill>
                  <a:srgbClr val="FF0000"/>
                </a:solidFill>
              </a:rPr>
              <a:t>, Afar and Somali </a:t>
            </a:r>
            <a:r>
              <a:rPr lang="en-GB" dirty="0"/>
              <a:t>was partly caused by </a:t>
            </a:r>
            <a:r>
              <a:rPr lang="en-GB" dirty="0">
                <a:solidFill>
                  <a:srgbClr val="00B050"/>
                </a:solidFill>
              </a:rPr>
              <a:t>the military conflict between the Christian Kingdom and the Sultanate of </a:t>
            </a:r>
            <a:r>
              <a:rPr lang="en-GB" dirty="0" err="1">
                <a:solidFill>
                  <a:srgbClr val="00B050"/>
                </a:solidFill>
              </a:rPr>
              <a:t>Adal</a:t>
            </a:r>
            <a:r>
              <a:rPr lang="en-GB" dirty="0">
                <a:solidFill>
                  <a:srgbClr val="00B050"/>
                </a:solidFill>
              </a:rPr>
              <a:t> in the late fifteenth and early sixteenth centuries</a:t>
            </a:r>
            <a:r>
              <a:rPr lang="en-GB" dirty="0"/>
              <a:t>. </a:t>
            </a:r>
            <a:endParaRPr lang="en-GB" dirty="0" smtClean="0"/>
          </a:p>
          <a:p>
            <a:r>
              <a:rPr lang="en-GB" dirty="0" smtClean="0"/>
              <a:t>Their </a:t>
            </a:r>
            <a:r>
              <a:rPr lang="en-GB" dirty="0"/>
              <a:t>territories lay in the region where the caravan trade routes traversed, and they were affected by and moved back and forth in response to the </a:t>
            </a:r>
            <a:r>
              <a:rPr lang="en-GB" dirty="0" err="1"/>
              <a:t>ongoing</a:t>
            </a:r>
            <a:r>
              <a:rPr lang="en-GB" dirty="0"/>
              <a:t> conflict. </a:t>
            </a:r>
          </a:p>
        </p:txBody>
      </p:sp>
      <p:sp>
        <p:nvSpPr>
          <p:cNvPr id="3" name="Title 2"/>
          <p:cNvSpPr>
            <a:spLocks noGrp="1"/>
          </p:cNvSpPr>
          <p:nvPr>
            <p:ph type="title"/>
          </p:nvPr>
        </p:nvSpPr>
        <p:spPr/>
        <p:txBody>
          <a:bodyPr>
            <a:normAutofit fontScale="90000"/>
          </a:bodyPr>
          <a:lstStyle/>
          <a:p>
            <a:r>
              <a:rPr lang="en-GB" dirty="0">
                <a:solidFill>
                  <a:srgbClr val="FF0000"/>
                </a:solidFill>
              </a:rPr>
              <a:t>5.3.1. Population Movements of the </a:t>
            </a:r>
            <a:r>
              <a:rPr lang="en-GB" dirty="0" err="1">
                <a:solidFill>
                  <a:srgbClr val="FF0000"/>
                </a:solidFill>
              </a:rPr>
              <a:t>Argobba</a:t>
            </a:r>
            <a:r>
              <a:rPr lang="en-GB" dirty="0">
                <a:solidFill>
                  <a:srgbClr val="FF0000"/>
                </a:solidFill>
              </a:rPr>
              <a:t>, Afar, and Somali </a:t>
            </a:r>
          </a:p>
        </p:txBody>
      </p:sp>
    </p:spTree>
    <p:extLst>
      <p:ext uri="{BB962C8B-B14F-4D97-AF65-F5344CB8AC3E}">
        <p14:creationId xmlns:p14="http://schemas.microsoft.com/office/powerpoint/2010/main" val="270699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04664"/>
            <a:ext cx="8229600" cy="5602627"/>
          </a:xfrm>
        </p:spPr>
        <p:txBody>
          <a:bodyPr>
            <a:normAutofit fontScale="85000" lnSpcReduction="20000"/>
          </a:bodyPr>
          <a:lstStyle/>
          <a:p>
            <a:r>
              <a:rPr lang="en-GB" dirty="0" err="1">
                <a:solidFill>
                  <a:srgbClr val="FF0000"/>
                </a:solidFill>
              </a:rPr>
              <a:t>Argobba</a:t>
            </a:r>
            <a:r>
              <a:rPr lang="en-GB" dirty="0">
                <a:solidFill>
                  <a:srgbClr val="FF0000"/>
                </a:solidFill>
              </a:rPr>
              <a:t>: </a:t>
            </a:r>
            <a:r>
              <a:rPr lang="en-GB" dirty="0"/>
              <a:t>there are two versions on the origin of the </a:t>
            </a:r>
            <a:r>
              <a:rPr lang="en-GB" dirty="0" err="1"/>
              <a:t>Argobba</a:t>
            </a:r>
            <a:r>
              <a:rPr lang="en-GB" dirty="0"/>
              <a:t>. </a:t>
            </a:r>
            <a:endParaRPr lang="en-GB" dirty="0" smtClean="0"/>
          </a:p>
          <a:p>
            <a:r>
              <a:rPr lang="en-GB" dirty="0" smtClean="0"/>
              <a:t>The </a:t>
            </a:r>
            <a:r>
              <a:rPr lang="en-GB" dirty="0"/>
              <a:t>first holds that they descended from the followers of the Prophet Muhammad who came and settled in </a:t>
            </a:r>
            <a:r>
              <a:rPr lang="en-GB" dirty="0" err="1"/>
              <a:t>Ifat</a:t>
            </a:r>
            <a:r>
              <a:rPr lang="en-GB" dirty="0"/>
              <a:t>. </a:t>
            </a:r>
            <a:endParaRPr lang="en-GB" dirty="0" smtClean="0"/>
          </a:p>
          <a:p>
            <a:r>
              <a:rPr lang="en-GB" dirty="0" smtClean="0"/>
              <a:t>The </a:t>
            </a:r>
            <a:r>
              <a:rPr lang="en-GB" dirty="0"/>
              <a:t>second claims that the </a:t>
            </a:r>
            <a:r>
              <a:rPr lang="en-GB" dirty="0" err="1"/>
              <a:t>Argobba</a:t>
            </a:r>
            <a:r>
              <a:rPr lang="en-GB" dirty="0"/>
              <a:t> are not Muslim-Arab immigrants as they are one of the ancient peoples that accepted Islam very early from religious leaders that came from Arabia. </a:t>
            </a:r>
            <a:endParaRPr lang="en-GB" dirty="0" smtClean="0"/>
          </a:p>
          <a:p>
            <a:r>
              <a:rPr lang="en-GB" dirty="0" smtClean="0"/>
              <a:t>They </a:t>
            </a:r>
            <a:r>
              <a:rPr lang="en-GB" dirty="0"/>
              <a:t>were major agents of Islamic expansion and state formation in the Horn</a:t>
            </a:r>
            <a:r>
              <a:rPr lang="en-GB" dirty="0" smtClean="0"/>
              <a:t>.</a:t>
            </a:r>
          </a:p>
          <a:p>
            <a:r>
              <a:rPr lang="en-GB" dirty="0" smtClean="0"/>
              <a:t> </a:t>
            </a:r>
            <a:r>
              <a:rPr lang="en-GB" dirty="0"/>
              <a:t>For instance, the </a:t>
            </a:r>
            <a:r>
              <a:rPr lang="en-GB" b="1" dirty="0" err="1">
                <a:solidFill>
                  <a:srgbClr val="00B050"/>
                </a:solidFill>
              </a:rPr>
              <a:t>Makhzumite</a:t>
            </a:r>
            <a:r>
              <a:rPr lang="en-GB" b="1" dirty="0">
                <a:solidFill>
                  <a:srgbClr val="00B050"/>
                </a:solidFill>
              </a:rPr>
              <a:t> and </a:t>
            </a:r>
            <a:r>
              <a:rPr lang="en-GB" b="1" dirty="0" err="1">
                <a:solidFill>
                  <a:srgbClr val="00B050"/>
                </a:solidFill>
              </a:rPr>
              <a:t>Walasma</a:t>
            </a:r>
            <a:r>
              <a:rPr lang="en-GB" b="1" dirty="0">
                <a:solidFill>
                  <a:srgbClr val="00B050"/>
                </a:solidFill>
              </a:rPr>
              <a:t> Dynasties established the </a:t>
            </a:r>
            <a:r>
              <a:rPr lang="en-GB" b="1" dirty="0" err="1">
                <a:solidFill>
                  <a:srgbClr val="00B050"/>
                </a:solidFill>
              </a:rPr>
              <a:t>Shewan</a:t>
            </a:r>
            <a:r>
              <a:rPr lang="en-GB" b="1" dirty="0">
                <a:solidFill>
                  <a:srgbClr val="00B050"/>
                </a:solidFill>
              </a:rPr>
              <a:t> and </a:t>
            </a:r>
            <a:r>
              <a:rPr lang="en-GB" b="1" dirty="0" err="1">
                <a:solidFill>
                  <a:srgbClr val="00B050"/>
                </a:solidFill>
              </a:rPr>
              <a:t>Ifat</a:t>
            </a:r>
            <a:r>
              <a:rPr lang="en-GB" b="1" dirty="0">
                <a:solidFill>
                  <a:srgbClr val="00B050"/>
                </a:solidFill>
              </a:rPr>
              <a:t> sultanates respectively, in which the </a:t>
            </a:r>
            <a:r>
              <a:rPr lang="en-GB" b="1" dirty="0" err="1">
                <a:solidFill>
                  <a:srgbClr val="00B050"/>
                </a:solidFill>
              </a:rPr>
              <a:t>Argobba</a:t>
            </a:r>
            <a:r>
              <a:rPr lang="en-GB" b="1" dirty="0">
                <a:solidFill>
                  <a:srgbClr val="00B050"/>
                </a:solidFill>
              </a:rPr>
              <a:t> were dominant</a:t>
            </a:r>
            <a:r>
              <a:rPr lang="en-GB" dirty="0"/>
              <a:t>. </a:t>
            </a:r>
            <a:endParaRPr lang="en-GB" dirty="0" smtClean="0"/>
          </a:p>
          <a:p>
            <a:r>
              <a:rPr lang="en-GB" dirty="0" smtClean="0"/>
              <a:t>The </a:t>
            </a:r>
            <a:r>
              <a:rPr lang="en-GB" dirty="0"/>
              <a:t>Christian-Muslim rivalry led to dispersion of the </a:t>
            </a:r>
            <a:r>
              <a:rPr lang="en-GB" dirty="0" err="1"/>
              <a:t>Argobba</a:t>
            </a:r>
            <a:r>
              <a:rPr lang="en-GB" dirty="0"/>
              <a:t> that can be observed from their fragmented settlements in various areas.</a:t>
            </a:r>
          </a:p>
        </p:txBody>
      </p:sp>
    </p:spTree>
    <p:extLst>
      <p:ext uri="{BB962C8B-B14F-4D97-AF65-F5344CB8AC3E}">
        <p14:creationId xmlns:p14="http://schemas.microsoft.com/office/powerpoint/2010/main" val="1016679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60648"/>
            <a:ext cx="8229600" cy="5746643"/>
          </a:xfrm>
        </p:spPr>
        <p:txBody>
          <a:bodyPr>
            <a:normAutofit fontScale="85000" lnSpcReduction="10000"/>
          </a:bodyPr>
          <a:lstStyle/>
          <a:p>
            <a:r>
              <a:rPr lang="en-GB" b="1" dirty="0">
                <a:solidFill>
                  <a:srgbClr val="FF0000"/>
                </a:solidFill>
              </a:rPr>
              <a:t>Afar: </a:t>
            </a:r>
            <a:r>
              <a:rPr lang="en-GB" dirty="0"/>
              <a:t>The Afar lived predominantly in </a:t>
            </a:r>
            <a:r>
              <a:rPr lang="en-GB" dirty="0" err="1">
                <a:solidFill>
                  <a:srgbClr val="FF0000"/>
                </a:solidFill>
              </a:rPr>
              <a:t>northeastern</a:t>
            </a:r>
            <a:r>
              <a:rPr lang="en-GB" dirty="0">
                <a:solidFill>
                  <a:srgbClr val="FF0000"/>
                </a:solidFill>
              </a:rPr>
              <a:t> Ethiopia and northern Djibouti; but some have inhabited southern Eritrea. </a:t>
            </a:r>
            <a:endParaRPr lang="en-GB" dirty="0" smtClean="0">
              <a:solidFill>
                <a:srgbClr val="FF0000"/>
              </a:solidFill>
            </a:endParaRPr>
          </a:p>
          <a:p>
            <a:r>
              <a:rPr lang="en-GB" dirty="0" smtClean="0"/>
              <a:t>The </a:t>
            </a:r>
            <a:r>
              <a:rPr lang="en-GB" dirty="0"/>
              <a:t>Afar had an indigenous governance system known as </a:t>
            </a:r>
            <a:r>
              <a:rPr lang="en-GB" dirty="0" err="1">
                <a:solidFill>
                  <a:srgbClr val="00B050"/>
                </a:solidFill>
              </a:rPr>
              <a:t>makabanto</a:t>
            </a:r>
            <a:r>
              <a:rPr lang="en-GB" dirty="0"/>
              <a:t>, which has some democratic features. </a:t>
            </a:r>
            <a:endParaRPr lang="en-GB" dirty="0" smtClean="0"/>
          </a:p>
          <a:p>
            <a:r>
              <a:rPr lang="en-GB" dirty="0" smtClean="0"/>
              <a:t>The </a:t>
            </a:r>
            <a:r>
              <a:rPr lang="en-GB" dirty="0"/>
              <a:t>Afar are </a:t>
            </a:r>
            <a:r>
              <a:rPr lang="en-GB" b="1" dirty="0">
                <a:solidFill>
                  <a:srgbClr val="00B050"/>
                </a:solidFill>
              </a:rPr>
              <a:t>first mentioned </a:t>
            </a:r>
            <a:r>
              <a:rPr lang="en-GB" dirty="0"/>
              <a:t>by the Arab geographer </a:t>
            </a:r>
            <a:r>
              <a:rPr lang="en-GB" b="1" dirty="0" err="1">
                <a:solidFill>
                  <a:srgbClr val="00B050"/>
                </a:solidFill>
              </a:rPr>
              <a:t>Ibn</a:t>
            </a:r>
            <a:r>
              <a:rPr lang="en-GB" b="1" dirty="0">
                <a:solidFill>
                  <a:srgbClr val="00B050"/>
                </a:solidFill>
              </a:rPr>
              <a:t> Said (1214-86</a:t>
            </a:r>
            <a:r>
              <a:rPr lang="en-GB" dirty="0"/>
              <a:t>), who described them as occupying the lowland territory near Bab el-Mandeb. </a:t>
            </a:r>
            <a:endParaRPr lang="en-GB" dirty="0" smtClean="0"/>
          </a:p>
          <a:p>
            <a:r>
              <a:rPr lang="en-GB" dirty="0" smtClean="0"/>
              <a:t>Drought </a:t>
            </a:r>
            <a:r>
              <a:rPr lang="en-GB" dirty="0"/>
              <a:t>forced the Afar to move eastwards until they reached the middle Awash by the sixteenth century</a:t>
            </a:r>
            <a:r>
              <a:rPr lang="en-GB" dirty="0" smtClean="0"/>
              <a:t>.</a:t>
            </a:r>
          </a:p>
          <a:p>
            <a:r>
              <a:rPr lang="en-GB" dirty="0" smtClean="0"/>
              <a:t> </a:t>
            </a:r>
            <a:r>
              <a:rPr lang="en-GB" dirty="0"/>
              <a:t>Even though they were actors in the conflict, </a:t>
            </a:r>
            <a:r>
              <a:rPr lang="en-GB" dirty="0">
                <a:solidFill>
                  <a:srgbClr val="FF0000"/>
                </a:solidFill>
              </a:rPr>
              <a:t>the Christian-Muslim conflict forced the Afar to move in different directions</a:t>
            </a:r>
            <a:r>
              <a:rPr lang="en-GB" dirty="0" smtClean="0">
                <a:solidFill>
                  <a:srgbClr val="FF0000"/>
                </a:solidFill>
              </a:rPr>
              <a:t>.</a:t>
            </a:r>
          </a:p>
          <a:p>
            <a:r>
              <a:rPr lang="en-GB" dirty="0" smtClean="0"/>
              <a:t> </a:t>
            </a:r>
            <a:r>
              <a:rPr lang="en-GB" dirty="0"/>
              <a:t>Their pastoral economy helped the Afar survive the destructive effects of the wars of the sixteenth century. </a:t>
            </a:r>
          </a:p>
        </p:txBody>
      </p:sp>
    </p:spTree>
    <p:extLst>
      <p:ext uri="{BB962C8B-B14F-4D97-AF65-F5344CB8AC3E}">
        <p14:creationId xmlns:p14="http://schemas.microsoft.com/office/powerpoint/2010/main" val="19348860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fontScale="70000" lnSpcReduction="20000"/>
          </a:bodyPr>
          <a:lstStyle/>
          <a:p>
            <a:r>
              <a:rPr lang="en-GB" dirty="0" smtClean="0"/>
              <a:t>Among historically </a:t>
            </a:r>
            <a:r>
              <a:rPr lang="en-GB" dirty="0"/>
              <a:t>famous </a:t>
            </a:r>
            <a:r>
              <a:rPr lang="en-GB" dirty="0" smtClean="0"/>
              <a:t>cities of Afar were </a:t>
            </a:r>
            <a:r>
              <a:rPr lang="en-GB" dirty="0" err="1" smtClean="0">
                <a:solidFill>
                  <a:srgbClr val="FF0000"/>
                </a:solidFill>
              </a:rPr>
              <a:t>Maduna</a:t>
            </a:r>
            <a:r>
              <a:rPr lang="en-GB" dirty="0" smtClean="0">
                <a:solidFill>
                  <a:srgbClr val="FF0000"/>
                </a:solidFill>
              </a:rPr>
              <a:t> </a:t>
            </a:r>
            <a:r>
              <a:rPr lang="en-GB" dirty="0">
                <a:solidFill>
                  <a:srgbClr val="FF0000"/>
                </a:solidFill>
              </a:rPr>
              <a:t>and </a:t>
            </a:r>
            <a:r>
              <a:rPr lang="en-GB" dirty="0" err="1">
                <a:solidFill>
                  <a:srgbClr val="FF0000"/>
                </a:solidFill>
              </a:rPr>
              <a:t>Abasa</a:t>
            </a:r>
            <a:r>
              <a:rPr lang="en-GB" dirty="0">
                <a:solidFill>
                  <a:srgbClr val="FF0000"/>
                </a:solidFill>
              </a:rPr>
              <a:t>.</a:t>
            </a:r>
            <a:r>
              <a:rPr lang="en-GB" dirty="0"/>
              <a:t> </a:t>
            </a:r>
            <a:endParaRPr lang="en-GB" dirty="0" smtClean="0"/>
          </a:p>
          <a:p>
            <a:r>
              <a:rPr lang="en-GB" dirty="0" smtClean="0"/>
              <a:t>Following </a:t>
            </a:r>
            <a:r>
              <a:rPr lang="en-GB" dirty="0"/>
              <a:t>the </a:t>
            </a:r>
            <a:r>
              <a:rPr lang="en-GB" dirty="0" err="1"/>
              <a:t>Adal</a:t>
            </a:r>
            <a:r>
              <a:rPr lang="en-GB" dirty="0"/>
              <a:t> Sultanate‘s collapse in the sixteenth century, the Afar established sultanates like </a:t>
            </a:r>
            <a:r>
              <a:rPr lang="en-GB" dirty="0" err="1">
                <a:solidFill>
                  <a:srgbClr val="FF0000"/>
                </a:solidFill>
              </a:rPr>
              <a:t>Awsa</a:t>
            </a:r>
            <a:r>
              <a:rPr lang="en-GB" dirty="0">
                <a:solidFill>
                  <a:srgbClr val="FF0000"/>
                </a:solidFill>
              </a:rPr>
              <a:t>, </a:t>
            </a:r>
            <a:r>
              <a:rPr lang="en-GB" dirty="0" err="1">
                <a:solidFill>
                  <a:srgbClr val="FF0000"/>
                </a:solidFill>
              </a:rPr>
              <a:t>Girrifo</a:t>
            </a:r>
            <a:r>
              <a:rPr lang="en-GB" dirty="0">
                <a:solidFill>
                  <a:srgbClr val="FF0000"/>
                </a:solidFill>
              </a:rPr>
              <a:t>, </a:t>
            </a:r>
            <a:r>
              <a:rPr lang="en-GB" dirty="0" err="1">
                <a:solidFill>
                  <a:srgbClr val="FF0000"/>
                </a:solidFill>
              </a:rPr>
              <a:t>Tadjourah</a:t>
            </a:r>
            <a:r>
              <a:rPr lang="en-GB" dirty="0">
                <a:solidFill>
                  <a:srgbClr val="FF0000"/>
                </a:solidFill>
              </a:rPr>
              <a:t>, </a:t>
            </a:r>
            <a:r>
              <a:rPr lang="en-GB" dirty="0" err="1">
                <a:solidFill>
                  <a:srgbClr val="FF0000"/>
                </a:solidFill>
              </a:rPr>
              <a:t>Rahaito</a:t>
            </a:r>
            <a:r>
              <a:rPr lang="en-GB" dirty="0">
                <a:solidFill>
                  <a:srgbClr val="FF0000"/>
                </a:solidFill>
              </a:rPr>
              <a:t> and </a:t>
            </a:r>
            <a:r>
              <a:rPr lang="en-GB" dirty="0" err="1">
                <a:solidFill>
                  <a:srgbClr val="FF0000"/>
                </a:solidFill>
              </a:rPr>
              <a:t>Gobad</a:t>
            </a:r>
            <a:r>
              <a:rPr lang="en-GB" dirty="0" smtClean="0"/>
              <a:t>.</a:t>
            </a:r>
          </a:p>
          <a:p>
            <a:r>
              <a:rPr lang="en-GB" dirty="0" smtClean="0"/>
              <a:t> </a:t>
            </a:r>
            <a:r>
              <a:rPr lang="en-GB" dirty="0">
                <a:solidFill>
                  <a:srgbClr val="FF0000"/>
                </a:solidFill>
              </a:rPr>
              <a:t>The </a:t>
            </a:r>
            <a:r>
              <a:rPr lang="en-GB" dirty="0" err="1">
                <a:solidFill>
                  <a:srgbClr val="FF0000"/>
                </a:solidFill>
              </a:rPr>
              <a:t>Awsa</a:t>
            </a:r>
            <a:r>
              <a:rPr lang="en-GB" dirty="0">
                <a:solidFill>
                  <a:srgbClr val="FF0000"/>
                </a:solidFill>
              </a:rPr>
              <a:t> Sultanate </a:t>
            </a:r>
            <a:r>
              <a:rPr lang="en-GB" dirty="0"/>
              <a:t>succeeded the earlier </a:t>
            </a:r>
            <a:r>
              <a:rPr lang="en-GB" dirty="0" err="1">
                <a:solidFill>
                  <a:srgbClr val="FF0000"/>
                </a:solidFill>
              </a:rPr>
              <a:t>Awsa</a:t>
            </a:r>
            <a:r>
              <a:rPr lang="en-GB" dirty="0">
                <a:solidFill>
                  <a:srgbClr val="FF0000"/>
                </a:solidFill>
              </a:rPr>
              <a:t> Imamate</a:t>
            </a:r>
            <a:r>
              <a:rPr lang="en-GB" dirty="0"/>
              <a:t> in the Middle Awash</a:t>
            </a:r>
            <a:r>
              <a:rPr lang="en-GB" dirty="0" smtClean="0"/>
              <a:t>.</a:t>
            </a:r>
          </a:p>
          <a:p>
            <a:r>
              <a:rPr lang="en-GB" dirty="0" smtClean="0"/>
              <a:t> </a:t>
            </a:r>
            <a:r>
              <a:rPr lang="en-GB" dirty="0"/>
              <a:t>The latter polity had come into existence in 1577, when </a:t>
            </a:r>
            <a:r>
              <a:rPr lang="en-GB" dirty="0">
                <a:solidFill>
                  <a:srgbClr val="FF0000"/>
                </a:solidFill>
              </a:rPr>
              <a:t>Mohammed </a:t>
            </a:r>
            <a:r>
              <a:rPr lang="en-GB" dirty="0" err="1">
                <a:solidFill>
                  <a:srgbClr val="FF0000"/>
                </a:solidFill>
              </a:rPr>
              <a:t>Jasa</a:t>
            </a:r>
            <a:r>
              <a:rPr lang="en-GB" dirty="0">
                <a:solidFill>
                  <a:srgbClr val="FF0000"/>
                </a:solidFill>
              </a:rPr>
              <a:t> </a:t>
            </a:r>
            <a:r>
              <a:rPr lang="en-GB" dirty="0"/>
              <a:t>moved his capital from </a:t>
            </a:r>
            <a:r>
              <a:rPr lang="en-GB" dirty="0" err="1"/>
              <a:t>Harar</a:t>
            </a:r>
            <a:r>
              <a:rPr lang="en-GB" dirty="0"/>
              <a:t> to </a:t>
            </a:r>
            <a:r>
              <a:rPr lang="en-GB" dirty="0" err="1"/>
              <a:t>Awsa</a:t>
            </a:r>
            <a:r>
              <a:rPr lang="en-GB" dirty="0"/>
              <a:t>. </a:t>
            </a:r>
            <a:endParaRPr lang="en-GB" dirty="0" smtClean="0"/>
          </a:p>
          <a:p>
            <a:r>
              <a:rPr lang="en-GB" dirty="0" err="1" smtClean="0"/>
              <a:t>Awsa</a:t>
            </a:r>
            <a:r>
              <a:rPr lang="en-GB" dirty="0" smtClean="0"/>
              <a:t> </a:t>
            </a:r>
            <a:r>
              <a:rPr lang="en-GB" dirty="0"/>
              <a:t>declined and temporarily ended in conjunction with </a:t>
            </a:r>
            <a:r>
              <a:rPr lang="en-GB" dirty="0">
                <a:solidFill>
                  <a:srgbClr val="FF0000"/>
                </a:solidFill>
              </a:rPr>
              <a:t>Imam Umar Din bin Adam's ascension to the throne in 1672.</a:t>
            </a:r>
            <a:r>
              <a:rPr lang="en-GB" dirty="0"/>
              <a:t> </a:t>
            </a:r>
            <a:endParaRPr lang="en-GB" dirty="0" smtClean="0"/>
          </a:p>
          <a:p>
            <a:r>
              <a:rPr lang="en-GB" dirty="0" smtClean="0"/>
              <a:t>The </a:t>
            </a:r>
            <a:r>
              <a:rPr lang="en-GB" dirty="0"/>
              <a:t>Sultanate was subsequently </a:t>
            </a:r>
            <a:r>
              <a:rPr lang="en-GB" dirty="0" err="1"/>
              <a:t>reestablished</a:t>
            </a:r>
            <a:r>
              <a:rPr lang="en-GB" dirty="0"/>
              <a:t> by </a:t>
            </a:r>
            <a:r>
              <a:rPr lang="en-GB" dirty="0" err="1"/>
              <a:t>Kedafo</a:t>
            </a:r>
            <a:r>
              <a:rPr lang="en-GB" dirty="0"/>
              <a:t> around 1734 and was thereafter ruled by the </a:t>
            </a:r>
            <a:r>
              <a:rPr lang="en-GB" dirty="0" err="1"/>
              <a:t>Mudaito</a:t>
            </a:r>
            <a:r>
              <a:rPr lang="en-GB" dirty="0"/>
              <a:t> Dynasty that he founded. </a:t>
            </a:r>
            <a:endParaRPr lang="en-GB" dirty="0" smtClean="0"/>
          </a:p>
          <a:p>
            <a:r>
              <a:rPr lang="en-GB" dirty="0" smtClean="0"/>
              <a:t>The </a:t>
            </a:r>
            <a:r>
              <a:rPr lang="en-GB" dirty="0"/>
              <a:t>primary symbol of the sultan was a silver baton. </a:t>
            </a:r>
            <a:endParaRPr lang="en-GB" dirty="0" smtClean="0"/>
          </a:p>
          <a:p>
            <a:r>
              <a:rPr lang="en-GB" dirty="0" err="1" smtClean="0"/>
              <a:t>Awsa‘s</a:t>
            </a:r>
            <a:r>
              <a:rPr lang="en-GB" dirty="0" smtClean="0"/>
              <a:t> </a:t>
            </a:r>
            <a:r>
              <a:rPr lang="en-GB" dirty="0"/>
              <a:t>economy mainly depended on the </a:t>
            </a:r>
            <a:r>
              <a:rPr lang="en-GB" dirty="0" err="1">
                <a:solidFill>
                  <a:srgbClr val="FF0000"/>
                </a:solidFill>
              </a:rPr>
              <a:t>Bati-Ginda‘e</a:t>
            </a:r>
            <a:r>
              <a:rPr lang="en-GB" dirty="0">
                <a:solidFill>
                  <a:srgbClr val="FF0000"/>
                </a:solidFill>
              </a:rPr>
              <a:t> trade route</a:t>
            </a:r>
            <a:r>
              <a:rPr lang="en-GB" dirty="0"/>
              <a:t>. </a:t>
            </a:r>
            <a:endParaRPr lang="en-GB" dirty="0" smtClean="0"/>
          </a:p>
          <a:p>
            <a:r>
              <a:rPr lang="en-GB" dirty="0" smtClean="0"/>
              <a:t>Later </a:t>
            </a:r>
            <a:r>
              <a:rPr lang="en-GB" dirty="0"/>
              <a:t>it became a </a:t>
            </a:r>
            <a:r>
              <a:rPr lang="en-GB" dirty="0" err="1"/>
              <a:t>center</a:t>
            </a:r>
            <a:r>
              <a:rPr lang="en-GB" dirty="0"/>
              <a:t> of Islamic learning led by preachers like </a:t>
            </a:r>
            <a:r>
              <a:rPr lang="en-GB" dirty="0" err="1"/>
              <a:t>Tola</a:t>
            </a:r>
            <a:r>
              <a:rPr lang="en-GB" dirty="0"/>
              <a:t> </a:t>
            </a:r>
            <a:r>
              <a:rPr lang="en-GB" dirty="0" err="1"/>
              <a:t>Hanfire</a:t>
            </a:r>
            <a:endParaRPr lang="en-GB" dirty="0"/>
          </a:p>
        </p:txBody>
      </p:sp>
    </p:spTree>
    <p:extLst>
      <p:ext uri="{BB962C8B-B14F-4D97-AF65-F5344CB8AC3E}">
        <p14:creationId xmlns:p14="http://schemas.microsoft.com/office/powerpoint/2010/main" val="1323587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6632"/>
            <a:ext cx="8229600" cy="5890659"/>
          </a:xfrm>
        </p:spPr>
        <p:txBody>
          <a:bodyPr>
            <a:normAutofit fontScale="92500" lnSpcReduction="20000"/>
          </a:bodyPr>
          <a:lstStyle/>
          <a:p>
            <a:r>
              <a:rPr lang="en-GB" dirty="0">
                <a:solidFill>
                  <a:srgbClr val="FF0000"/>
                </a:solidFill>
              </a:rPr>
              <a:t>The Somali</a:t>
            </a:r>
            <a:r>
              <a:rPr lang="en-GB" dirty="0"/>
              <a:t>: the Somali practiced pastoral economy and led a nomadic life for centuries, possibly in search of sufficient pasture. </a:t>
            </a:r>
            <a:endParaRPr lang="en-GB" dirty="0" smtClean="0"/>
          </a:p>
          <a:p>
            <a:r>
              <a:rPr lang="en-GB" dirty="0" smtClean="0"/>
              <a:t>Historically</a:t>
            </a:r>
            <a:r>
              <a:rPr lang="en-GB" dirty="0"/>
              <a:t>, </a:t>
            </a:r>
            <a:r>
              <a:rPr lang="en-GB" dirty="0">
                <a:solidFill>
                  <a:srgbClr val="FF0000"/>
                </a:solidFill>
              </a:rPr>
              <a:t>a council known as </a:t>
            </a:r>
            <a:r>
              <a:rPr lang="en-GB" dirty="0" err="1">
                <a:solidFill>
                  <a:srgbClr val="FF0000"/>
                </a:solidFill>
              </a:rPr>
              <a:t>shir</a:t>
            </a:r>
            <a:r>
              <a:rPr lang="en-GB" dirty="0">
                <a:solidFill>
                  <a:srgbClr val="FF0000"/>
                </a:solidFill>
              </a:rPr>
              <a:t> </a:t>
            </a:r>
            <a:r>
              <a:rPr lang="en-GB" dirty="0"/>
              <a:t>governed the society. </a:t>
            </a:r>
            <a:endParaRPr lang="en-GB" dirty="0" smtClean="0"/>
          </a:p>
          <a:p>
            <a:r>
              <a:rPr lang="en-GB" dirty="0" smtClean="0"/>
              <a:t>The </a:t>
            </a:r>
            <a:r>
              <a:rPr lang="en-GB" dirty="0"/>
              <a:t>decision-making process was </a:t>
            </a:r>
            <a:r>
              <a:rPr lang="en-GB" dirty="0">
                <a:solidFill>
                  <a:srgbClr val="00B050"/>
                </a:solidFill>
              </a:rPr>
              <a:t>highly democratic,</a:t>
            </a:r>
            <a:r>
              <a:rPr lang="en-GB" dirty="0"/>
              <a:t> with all adult males allowed equal </a:t>
            </a:r>
            <a:r>
              <a:rPr lang="en-GB" dirty="0" smtClean="0"/>
              <a:t>participation.</a:t>
            </a:r>
          </a:p>
          <a:p>
            <a:r>
              <a:rPr lang="en-GB" dirty="0" smtClean="0"/>
              <a:t> </a:t>
            </a:r>
            <a:r>
              <a:rPr lang="en-GB" dirty="0"/>
              <a:t>These councils at sub-clan, clan and inter-clan level provided a governing structure that enforced law and administered justice. </a:t>
            </a:r>
            <a:endParaRPr lang="en-GB" dirty="0" smtClean="0"/>
          </a:p>
          <a:p>
            <a:r>
              <a:rPr lang="en-GB" dirty="0" smtClean="0"/>
              <a:t>The </a:t>
            </a:r>
            <a:r>
              <a:rPr lang="en-GB" dirty="0"/>
              <a:t>council </a:t>
            </a:r>
            <a:r>
              <a:rPr lang="en-GB" dirty="0">
                <a:solidFill>
                  <a:srgbClr val="00B050"/>
                </a:solidFill>
              </a:rPr>
              <a:t>ruled on wide-ranging affairs </a:t>
            </a:r>
            <a:r>
              <a:rPr lang="en-GB" dirty="0"/>
              <a:t>including </a:t>
            </a:r>
            <a:r>
              <a:rPr lang="en-GB" dirty="0">
                <a:solidFill>
                  <a:srgbClr val="00B050"/>
                </a:solidFill>
              </a:rPr>
              <a:t>resource allocation, marriage, trade and crime. </a:t>
            </a:r>
            <a:endParaRPr lang="en-GB" dirty="0" smtClean="0">
              <a:solidFill>
                <a:srgbClr val="00B050"/>
              </a:solidFill>
            </a:endParaRPr>
          </a:p>
          <a:p>
            <a:r>
              <a:rPr lang="en-GB" dirty="0" smtClean="0"/>
              <a:t>A </a:t>
            </a:r>
            <a:r>
              <a:rPr lang="en-GB" dirty="0"/>
              <a:t>component of </a:t>
            </a:r>
            <a:r>
              <a:rPr lang="en-GB" dirty="0" err="1"/>
              <a:t>shir</a:t>
            </a:r>
            <a:r>
              <a:rPr lang="en-GB" dirty="0"/>
              <a:t>, </a:t>
            </a:r>
            <a:r>
              <a:rPr lang="en-GB" b="1" dirty="0">
                <a:solidFill>
                  <a:srgbClr val="C00000"/>
                </a:solidFill>
              </a:rPr>
              <a:t>the </a:t>
            </a:r>
            <a:r>
              <a:rPr lang="en-GB" b="1" dirty="0" err="1">
                <a:solidFill>
                  <a:srgbClr val="C00000"/>
                </a:solidFill>
              </a:rPr>
              <a:t>guurti</a:t>
            </a:r>
            <a:r>
              <a:rPr lang="en-GB" b="1" dirty="0">
                <a:solidFill>
                  <a:srgbClr val="C00000"/>
                </a:solidFill>
              </a:rPr>
              <a:t> (council of elders),</a:t>
            </a:r>
            <a:r>
              <a:rPr lang="en-GB" dirty="0"/>
              <a:t> was the </a:t>
            </a:r>
            <a:r>
              <a:rPr lang="en-GB" b="1" dirty="0">
                <a:solidFill>
                  <a:srgbClr val="00B050"/>
                </a:solidFill>
              </a:rPr>
              <a:t>highest political council mandated with resolving conflict and crisis</a:t>
            </a:r>
            <a:r>
              <a:rPr lang="en-GB" dirty="0"/>
              <a:t>. </a:t>
            </a:r>
          </a:p>
        </p:txBody>
      </p:sp>
    </p:spTree>
    <p:extLst>
      <p:ext uri="{BB962C8B-B14F-4D97-AF65-F5344CB8AC3E}">
        <p14:creationId xmlns:p14="http://schemas.microsoft.com/office/powerpoint/2010/main" val="38047266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4704"/>
            <a:ext cx="8229600" cy="5242587"/>
          </a:xfrm>
        </p:spPr>
        <p:txBody>
          <a:bodyPr/>
          <a:lstStyle/>
          <a:p>
            <a:r>
              <a:rPr lang="en-GB" dirty="0" err="1">
                <a:solidFill>
                  <a:srgbClr val="00B050"/>
                </a:solidFill>
              </a:rPr>
              <a:t>Ibn</a:t>
            </a:r>
            <a:r>
              <a:rPr lang="en-GB" dirty="0">
                <a:solidFill>
                  <a:srgbClr val="00B050"/>
                </a:solidFill>
              </a:rPr>
              <a:t> Said </a:t>
            </a:r>
            <a:r>
              <a:rPr lang="en-GB" dirty="0"/>
              <a:t>noted that </a:t>
            </a:r>
            <a:r>
              <a:rPr lang="en-GB" dirty="0" err="1">
                <a:solidFill>
                  <a:srgbClr val="00B050"/>
                </a:solidFill>
              </a:rPr>
              <a:t>Merca</a:t>
            </a:r>
            <a:r>
              <a:rPr lang="en-GB" dirty="0">
                <a:solidFill>
                  <a:srgbClr val="00B050"/>
                </a:solidFill>
              </a:rPr>
              <a:t> town</a:t>
            </a:r>
            <a:r>
              <a:rPr lang="en-GB" dirty="0"/>
              <a:t> located on the southern Somali coast near </a:t>
            </a:r>
            <a:r>
              <a:rPr lang="en-GB" dirty="0" err="1"/>
              <a:t>Shabele</a:t>
            </a:r>
            <a:r>
              <a:rPr lang="en-GB" dirty="0"/>
              <a:t> River was </a:t>
            </a:r>
            <a:r>
              <a:rPr lang="en-GB" dirty="0">
                <a:solidFill>
                  <a:srgbClr val="00B050"/>
                </a:solidFill>
              </a:rPr>
              <a:t>a major urban centre </a:t>
            </a:r>
            <a:r>
              <a:rPr lang="en-GB" dirty="0"/>
              <a:t>that brought large numbers of Somalis together in the </a:t>
            </a:r>
            <a:r>
              <a:rPr lang="en-GB" dirty="0">
                <a:solidFill>
                  <a:srgbClr val="00B050"/>
                </a:solidFill>
              </a:rPr>
              <a:t>thirteenth century AD. </a:t>
            </a:r>
            <a:endParaRPr lang="en-GB" dirty="0" smtClean="0">
              <a:solidFill>
                <a:srgbClr val="00B050"/>
              </a:solidFill>
            </a:endParaRPr>
          </a:p>
          <a:p>
            <a:r>
              <a:rPr lang="en-GB" dirty="0" smtClean="0"/>
              <a:t>The </a:t>
            </a:r>
            <a:r>
              <a:rPr lang="en-GB" dirty="0">
                <a:solidFill>
                  <a:srgbClr val="00B050"/>
                </a:solidFill>
              </a:rPr>
              <a:t>Somali were a strong force behind the strength of Imam Ahmed</a:t>
            </a:r>
            <a:r>
              <a:rPr lang="en-GB" dirty="0" smtClean="0">
                <a:solidFill>
                  <a:srgbClr val="00B050"/>
                </a:solidFill>
              </a:rPr>
              <a:t>.</a:t>
            </a:r>
          </a:p>
          <a:p>
            <a:r>
              <a:rPr lang="en-GB" dirty="0" smtClean="0"/>
              <a:t> </a:t>
            </a:r>
            <a:r>
              <a:rPr lang="en-GB" dirty="0"/>
              <a:t>Yet, their movement did not last for long as they returned to their home base following the Imam‘s defeat in 1543</a:t>
            </a:r>
          </a:p>
        </p:txBody>
      </p:sp>
    </p:spTree>
    <p:extLst>
      <p:ext uri="{BB962C8B-B14F-4D97-AF65-F5344CB8AC3E}">
        <p14:creationId xmlns:p14="http://schemas.microsoft.com/office/powerpoint/2010/main" val="21442311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GB" dirty="0"/>
              <a:t>The </a:t>
            </a:r>
            <a:r>
              <a:rPr lang="en-GB" dirty="0" err="1"/>
              <a:t>Gadaa</a:t>
            </a:r>
            <a:r>
              <a:rPr lang="en-GB" dirty="0"/>
              <a:t> system was an institution, through which the Oromo organized </a:t>
            </a:r>
            <a:r>
              <a:rPr lang="en-GB" dirty="0">
                <a:solidFill>
                  <a:srgbClr val="00B050"/>
                </a:solidFill>
              </a:rPr>
              <a:t>socially, administered their affairs, defended their territories, and managed their economies</a:t>
            </a:r>
            <a:r>
              <a:rPr lang="en-GB" dirty="0" smtClean="0"/>
              <a:t>.</a:t>
            </a:r>
          </a:p>
          <a:p>
            <a:r>
              <a:rPr lang="en-GB" dirty="0" smtClean="0"/>
              <a:t> </a:t>
            </a:r>
            <a:r>
              <a:rPr lang="en-GB" dirty="0"/>
              <a:t>At the beginning of the sixteenth century, the system was </a:t>
            </a:r>
            <a:r>
              <a:rPr lang="en-GB" dirty="0">
                <a:solidFill>
                  <a:srgbClr val="00B050"/>
                </a:solidFill>
              </a:rPr>
              <a:t>fully functional, </a:t>
            </a:r>
            <a:r>
              <a:rPr lang="en-GB" dirty="0"/>
              <a:t>which makes it reasonable to think that the Oromo had practiced the </a:t>
            </a:r>
            <a:r>
              <a:rPr lang="en-GB" dirty="0" err="1"/>
              <a:t>Gadaa</a:t>
            </a:r>
            <a:r>
              <a:rPr lang="en-GB" dirty="0"/>
              <a:t> system long before. </a:t>
            </a:r>
            <a:endParaRPr lang="en-GB" dirty="0" smtClean="0"/>
          </a:p>
          <a:p>
            <a:r>
              <a:rPr lang="en-GB" dirty="0" smtClean="0"/>
              <a:t>Recent </a:t>
            </a:r>
            <a:r>
              <a:rPr lang="en-GB" dirty="0"/>
              <a:t>studies based on the </a:t>
            </a:r>
            <a:r>
              <a:rPr lang="en-GB" dirty="0" err="1"/>
              <a:t>Gadaa</a:t>
            </a:r>
            <a:r>
              <a:rPr lang="en-GB" dirty="0"/>
              <a:t> calendar suggest that the system </a:t>
            </a:r>
            <a:r>
              <a:rPr lang="en-GB" dirty="0">
                <a:solidFill>
                  <a:srgbClr val="00B050"/>
                </a:solidFill>
              </a:rPr>
              <a:t>evolved from the earlier Cushitic age-set social </a:t>
            </a:r>
            <a:r>
              <a:rPr lang="en-GB" dirty="0" smtClean="0">
                <a:solidFill>
                  <a:srgbClr val="00B050"/>
                </a:solidFill>
              </a:rPr>
              <a:t>organization</a:t>
            </a:r>
            <a:r>
              <a:rPr lang="en-GB" dirty="0" smtClean="0"/>
              <a:t>.</a:t>
            </a:r>
            <a:endParaRPr lang="en-GB" dirty="0"/>
          </a:p>
        </p:txBody>
      </p:sp>
      <p:sp>
        <p:nvSpPr>
          <p:cNvPr id="3" name="Title 2"/>
          <p:cNvSpPr>
            <a:spLocks noGrp="1"/>
          </p:cNvSpPr>
          <p:nvPr>
            <p:ph type="title"/>
          </p:nvPr>
        </p:nvSpPr>
        <p:spPr/>
        <p:txBody>
          <a:bodyPr>
            <a:normAutofit fontScale="90000"/>
          </a:bodyPr>
          <a:lstStyle/>
          <a:p>
            <a:r>
              <a:rPr lang="en-GB" dirty="0">
                <a:solidFill>
                  <a:srgbClr val="FF0000"/>
                </a:solidFill>
              </a:rPr>
              <a:t>5.3.2. </a:t>
            </a:r>
            <a:r>
              <a:rPr lang="en-GB" dirty="0" err="1">
                <a:solidFill>
                  <a:srgbClr val="FF0000"/>
                </a:solidFill>
              </a:rPr>
              <a:t>Gadaa</a:t>
            </a:r>
            <a:r>
              <a:rPr lang="en-GB" dirty="0">
                <a:solidFill>
                  <a:srgbClr val="FF0000"/>
                </a:solidFill>
              </a:rPr>
              <a:t> System and Oromo Population Movement (1522-1618) </a:t>
            </a:r>
          </a:p>
        </p:txBody>
      </p:sp>
    </p:spTree>
    <p:extLst>
      <p:ext uri="{BB962C8B-B14F-4D97-AF65-F5344CB8AC3E}">
        <p14:creationId xmlns:p14="http://schemas.microsoft.com/office/powerpoint/2010/main" val="3185163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6672"/>
            <a:ext cx="8229600" cy="5530619"/>
          </a:xfrm>
        </p:spPr>
        <p:txBody>
          <a:bodyPr>
            <a:normAutofit fontScale="92500" lnSpcReduction="20000"/>
          </a:bodyPr>
          <a:lstStyle/>
          <a:p>
            <a:pPr algn="just"/>
            <a:r>
              <a:rPr lang="en-GB" sz="2800" dirty="0" smtClean="0">
                <a:latin typeface="Arial" pitchFamily="34" charset="0"/>
                <a:cs typeface="Arial" pitchFamily="34" charset="0"/>
              </a:rPr>
              <a:t>In </a:t>
            </a:r>
            <a:r>
              <a:rPr lang="en-GB" sz="2800" dirty="0">
                <a:latin typeface="Arial" pitchFamily="34" charset="0"/>
                <a:cs typeface="Arial" pitchFamily="34" charset="0"/>
              </a:rPr>
              <a:t>the  </a:t>
            </a:r>
            <a:r>
              <a:rPr lang="en-GB" sz="2800" dirty="0" err="1">
                <a:latin typeface="Arial" pitchFamily="34" charset="0"/>
                <a:cs typeface="Arial" pitchFamily="34" charset="0"/>
              </a:rPr>
              <a:t>Gadaa</a:t>
            </a:r>
            <a:r>
              <a:rPr lang="en-GB" sz="2800" dirty="0">
                <a:latin typeface="Arial" pitchFamily="34" charset="0"/>
                <a:cs typeface="Arial" pitchFamily="34" charset="0"/>
              </a:rPr>
              <a:t> system: </a:t>
            </a:r>
          </a:p>
          <a:p>
            <a:pPr algn="just">
              <a:buFont typeface="Wingdings" pitchFamily="2" charset="2"/>
              <a:buChar char="ü"/>
            </a:pPr>
            <a:r>
              <a:rPr lang="en-GB" sz="2800" dirty="0">
                <a:solidFill>
                  <a:srgbClr val="00B050"/>
                </a:solidFill>
                <a:latin typeface="Arial" pitchFamily="34" charset="0"/>
                <a:cs typeface="Arial" pitchFamily="34" charset="0"/>
              </a:rPr>
              <a:t>eight years </a:t>
            </a:r>
            <a:r>
              <a:rPr lang="en-GB" sz="2800" dirty="0">
                <a:latin typeface="Arial" pitchFamily="34" charset="0"/>
                <a:cs typeface="Arial" pitchFamily="34" charset="0"/>
              </a:rPr>
              <a:t>represented </a:t>
            </a:r>
            <a:r>
              <a:rPr lang="en-GB" sz="2800" dirty="0">
                <a:solidFill>
                  <a:srgbClr val="00B050"/>
                </a:solidFill>
                <a:latin typeface="Arial" pitchFamily="34" charset="0"/>
                <a:cs typeface="Arial" pitchFamily="34" charset="0"/>
              </a:rPr>
              <a:t>one </a:t>
            </a:r>
            <a:r>
              <a:rPr lang="en-GB" sz="2800" i="1" dirty="0" err="1">
                <a:solidFill>
                  <a:srgbClr val="00B050"/>
                </a:solidFill>
                <a:latin typeface="Arial" pitchFamily="34" charset="0"/>
                <a:cs typeface="Arial" pitchFamily="34" charset="0"/>
              </a:rPr>
              <a:t>Gadaa</a:t>
            </a:r>
            <a:r>
              <a:rPr lang="en-GB" sz="2800" i="1" dirty="0">
                <a:solidFill>
                  <a:srgbClr val="00B050"/>
                </a:solidFill>
                <a:latin typeface="Arial" pitchFamily="34" charset="0"/>
                <a:cs typeface="Arial" pitchFamily="34" charset="0"/>
              </a:rPr>
              <a:t> </a:t>
            </a:r>
            <a:r>
              <a:rPr lang="en-GB" sz="2800" dirty="0">
                <a:solidFill>
                  <a:srgbClr val="00B050"/>
                </a:solidFill>
                <a:latin typeface="Arial" pitchFamily="34" charset="0"/>
                <a:cs typeface="Arial" pitchFamily="34" charset="0"/>
              </a:rPr>
              <a:t>period</a:t>
            </a:r>
            <a:r>
              <a:rPr lang="en-GB" sz="2800" dirty="0">
                <a:latin typeface="Arial" pitchFamily="34" charset="0"/>
                <a:cs typeface="Arial" pitchFamily="34" charset="0"/>
              </a:rPr>
              <a:t>,</a:t>
            </a:r>
          </a:p>
          <a:p>
            <a:pPr algn="just">
              <a:buFont typeface="Wingdings" pitchFamily="2" charset="2"/>
              <a:buChar char="ü"/>
            </a:pPr>
            <a:r>
              <a:rPr lang="en-GB" sz="2800" dirty="0">
                <a:latin typeface="Arial" pitchFamily="34" charset="0"/>
                <a:cs typeface="Arial" pitchFamily="34" charset="0"/>
              </a:rPr>
              <a:t> </a:t>
            </a:r>
            <a:r>
              <a:rPr lang="en-GB" sz="2800" dirty="0">
                <a:solidFill>
                  <a:srgbClr val="00B050"/>
                </a:solidFill>
                <a:latin typeface="Arial" pitchFamily="34" charset="0"/>
                <a:cs typeface="Arial" pitchFamily="34" charset="0"/>
              </a:rPr>
              <a:t>5-</a:t>
            </a:r>
            <a:r>
              <a:rPr lang="en-GB" sz="2800" i="1" dirty="0">
                <a:solidFill>
                  <a:srgbClr val="00B050"/>
                </a:solidFill>
                <a:latin typeface="Arial" pitchFamily="34" charset="0"/>
                <a:cs typeface="Arial" pitchFamily="34" charset="0"/>
              </a:rPr>
              <a:t>Gadaa </a:t>
            </a:r>
            <a:r>
              <a:rPr lang="en-GB" sz="2800" dirty="0">
                <a:solidFill>
                  <a:srgbClr val="00B050"/>
                </a:solidFill>
                <a:latin typeface="Arial" pitchFamily="34" charset="0"/>
                <a:cs typeface="Arial" pitchFamily="34" charset="0"/>
              </a:rPr>
              <a:t>periods </a:t>
            </a:r>
            <a:r>
              <a:rPr lang="en-GB" sz="2800" dirty="0">
                <a:latin typeface="Arial" pitchFamily="34" charset="0"/>
                <a:cs typeface="Arial" pitchFamily="34" charset="0"/>
              </a:rPr>
              <a:t>or </a:t>
            </a:r>
            <a:r>
              <a:rPr lang="en-GB" sz="2800" dirty="0">
                <a:solidFill>
                  <a:srgbClr val="00B050"/>
                </a:solidFill>
                <a:latin typeface="Arial" pitchFamily="34" charset="0"/>
                <a:cs typeface="Arial" pitchFamily="34" charset="0"/>
              </a:rPr>
              <a:t>40 years </a:t>
            </a:r>
            <a:r>
              <a:rPr lang="en-GB" sz="2800" dirty="0">
                <a:latin typeface="Arial" pitchFamily="34" charset="0"/>
                <a:cs typeface="Arial" pitchFamily="34" charset="0"/>
              </a:rPr>
              <a:t>represented </a:t>
            </a:r>
            <a:r>
              <a:rPr lang="en-GB" sz="2800" dirty="0">
                <a:solidFill>
                  <a:srgbClr val="00B050"/>
                </a:solidFill>
                <a:latin typeface="Arial" pitchFamily="34" charset="0"/>
                <a:cs typeface="Arial" pitchFamily="34" charset="0"/>
              </a:rPr>
              <a:t>one generation</a:t>
            </a:r>
            <a:r>
              <a:rPr lang="en-GB" sz="2800" dirty="0">
                <a:latin typeface="Arial" pitchFamily="34" charset="0"/>
                <a:cs typeface="Arial" pitchFamily="34" charset="0"/>
              </a:rPr>
              <a:t> and</a:t>
            </a:r>
          </a:p>
          <a:p>
            <a:pPr algn="just">
              <a:buFont typeface="Wingdings" pitchFamily="2" charset="2"/>
              <a:buChar char="ü"/>
            </a:pPr>
            <a:r>
              <a:rPr lang="en-GB" sz="2800" dirty="0">
                <a:latin typeface="Arial" pitchFamily="34" charset="0"/>
                <a:cs typeface="Arial" pitchFamily="34" charset="0"/>
              </a:rPr>
              <a:t> </a:t>
            </a:r>
            <a:r>
              <a:rPr lang="en-GB" sz="2800" dirty="0">
                <a:solidFill>
                  <a:srgbClr val="00B050"/>
                </a:solidFill>
                <a:latin typeface="Arial" pitchFamily="34" charset="0"/>
                <a:cs typeface="Arial" pitchFamily="34" charset="0"/>
              </a:rPr>
              <a:t>9 generations </a:t>
            </a:r>
            <a:r>
              <a:rPr lang="en-GB" sz="2800" dirty="0">
                <a:latin typeface="Arial" pitchFamily="34" charset="0"/>
                <a:cs typeface="Arial" pitchFamily="34" charset="0"/>
              </a:rPr>
              <a:t>represented </a:t>
            </a:r>
            <a:r>
              <a:rPr lang="en-GB" sz="2800" dirty="0">
                <a:solidFill>
                  <a:srgbClr val="00B050"/>
                </a:solidFill>
                <a:latin typeface="Arial" pitchFamily="34" charset="0"/>
                <a:cs typeface="Arial" pitchFamily="34" charset="0"/>
              </a:rPr>
              <a:t>an era</a:t>
            </a:r>
            <a:r>
              <a:rPr lang="en-GB" sz="2800" dirty="0">
                <a:latin typeface="Arial" pitchFamily="34" charset="0"/>
                <a:cs typeface="Arial" pitchFamily="34" charset="0"/>
              </a:rPr>
              <a:t> ( 9X 40= </a:t>
            </a:r>
            <a:r>
              <a:rPr lang="en-GB" sz="2800" dirty="0">
                <a:solidFill>
                  <a:srgbClr val="00B050"/>
                </a:solidFill>
                <a:latin typeface="Arial" pitchFamily="34" charset="0"/>
                <a:cs typeface="Arial" pitchFamily="34" charset="0"/>
              </a:rPr>
              <a:t>360)</a:t>
            </a:r>
          </a:p>
          <a:p>
            <a:pPr algn="just">
              <a:buFont typeface="Wingdings" pitchFamily="2" charset="2"/>
              <a:buChar char="ü"/>
            </a:pPr>
            <a:r>
              <a:rPr lang="en-GB" sz="2800" dirty="0">
                <a:latin typeface="Arial" pitchFamily="34" charset="0"/>
                <a:cs typeface="Arial" pitchFamily="34" charset="0"/>
              </a:rPr>
              <a:t>Accordingly, the earliest eras of </a:t>
            </a:r>
            <a:r>
              <a:rPr lang="en-GB" sz="2800" i="1" dirty="0" err="1">
                <a:latin typeface="Arial" pitchFamily="34" charset="0"/>
                <a:cs typeface="Arial" pitchFamily="34" charset="0"/>
              </a:rPr>
              <a:t>Gadaa</a:t>
            </a:r>
            <a:r>
              <a:rPr lang="en-GB" sz="2800" i="1" dirty="0">
                <a:latin typeface="Arial" pitchFamily="34" charset="0"/>
                <a:cs typeface="Arial" pitchFamily="34" charset="0"/>
              </a:rPr>
              <a:t> </a:t>
            </a:r>
            <a:r>
              <a:rPr lang="en-GB" sz="2800" dirty="0">
                <a:latin typeface="Arial" pitchFamily="34" charset="0"/>
                <a:cs typeface="Arial" pitchFamily="34" charset="0"/>
              </a:rPr>
              <a:t>but still obscure were those of </a:t>
            </a:r>
            <a:r>
              <a:rPr lang="en-GB" sz="2800" i="1" dirty="0" err="1">
                <a:solidFill>
                  <a:srgbClr val="00B050"/>
                </a:solidFill>
                <a:latin typeface="Arial" pitchFamily="34" charset="0"/>
                <a:cs typeface="Arial" pitchFamily="34" charset="0"/>
              </a:rPr>
              <a:t>Bidiri</a:t>
            </a:r>
            <a:r>
              <a:rPr lang="en-GB" sz="2800" i="1" dirty="0">
                <a:solidFill>
                  <a:srgbClr val="00B050"/>
                </a:solidFill>
                <a:latin typeface="Arial" pitchFamily="34" charset="0"/>
                <a:cs typeface="Arial" pitchFamily="34" charset="0"/>
              </a:rPr>
              <a:t> </a:t>
            </a:r>
            <a:r>
              <a:rPr lang="en-GB" sz="2800" i="1" dirty="0" err="1">
                <a:solidFill>
                  <a:srgbClr val="00B050"/>
                </a:solidFill>
                <a:latin typeface="Arial" pitchFamily="34" charset="0"/>
                <a:cs typeface="Arial" pitchFamily="34" charset="0"/>
              </a:rPr>
              <a:t>Dhoqqe</a:t>
            </a:r>
            <a:r>
              <a:rPr lang="en-GB" sz="2800" i="1" dirty="0">
                <a:solidFill>
                  <a:srgbClr val="00B050"/>
                </a:solidFill>
                <a:latin typeface="Arial" pitchFamily="34" charset="0"/>
                <a:cs typeface="Arial" pitchFamily="34" charset="0"/>
              </a:rPr>
              <a:t>. </a:t>
            </a:r>
            <a:endParaRPr lang="en-GB" sz="2800" i="1" dirty="0" smtClean="0">
              <a:solidFill>
                <a:srgbClr val="00B050"/>
              </a:solidFill>
              <a:latin typeface="Arial" pitchFamily="34" charset="0"/>
              <a:cs typeface="Arial" pitchFamily="34" charset="0"/>
            </a:endParaRPr>
          </a:p>
          <a:p>
            <a:pPr algn="just">
              <a:buFont typeface="Wingdings" pitchFamily="2" charset="2"/>
              <a:buChar char="ü"/>
            </a:pPr>
            <a:r>
              <a:rPr lang="en-GB" sz="2800" dirty="0">
                <a:latin typeface="Arial" pitchFamily="34" charset="0"/>
                <a:cs typeface="Arial" pitchFamily="34" charset="0"/>
              </a:rPr>
              <a:t>Prior to the institution of the prevailing </a:t>
            </a:r>
            <a:r>
              <a:rPr lang="en-GB" sz="2800" dirty="0" err="1">
                <a:latin typeface="Arial" pitchFamily="34" charset="0"/>
                <a:cs typeface="Arial" pitchFamily="34" charset="0"/>
              </a:rPr>
              <a:t>Gadaa</a:t>
            </a:r>
            <a:r>
              <a:rPr lang="en-GB" sz="2800" dirty="0">
                <a:latin typeface="Arial" pitchFamily="34" charset="0"/>
                <a:cs typeface="Arial" pitchFamily="34" charset="0"/>
              </a:rPr>
              <a:t> </a:t>
            </a:r>
            <a:r>
              <a:rPr lang="en-GB" sz="2800" dirty="0" err="1">
                <a:latin typeface="Arial" pitchFamily="34" charset="0"/>
                <a:cs typeface="Arial" pitchFamily="34" charset="0"/>
              </a:rPr>
              <a:t>Borana-Barentu</a:t>
            </a:r>
            <a:r>
              <a:rPr lang="en-GB" sz="2800" dirty="0">
                <a:latin typeface="Arial" pitchFamily="34" charset="0"/>
                <a:cs typeface="Arial" pitchFamily="34" charset="0"/>
              </a:rPr>
              <a:t> at </a:t>
            </a:r>
            <a:r>
              <a:rPr lang="en-GB" sz="2800" dirty="0" err="1">
                <a:latin typeface="Arial" pitchFamily="34" charset="0"/>
                <a:cs typeface="Arial" pitchFamily="34" charset="0"/>
              </a:rPr>
              <a:t>Madda</a:t>
            </a:r>
            <a:r>
              <a:rPr lang="en-GB" sz="2800" dirty="0">
                <a:latin typeface="Arial" pitchFamily="34" charset="0"/>
                <a:cs typeface="Arial" pitchFamily="34" charset="0"/>
              </a:rPr>
              <a:t> </a:t>
            </a:r>
            <a:r>
              <a:rPr lang="en-GB" sz="2800" dirty="0" err="1">
                <a:latin typeface="Arial" pitchFamily="34" charset="0"/>
                <a:cs typeface="Arial" pitchFamily="34" charset="0"/>
              </a:rPr>
              <a:t>Walabu</a:t>
            </a:r>
            <a:r>
              <a:rPr lang="en-GB" sz="2800" dirty="0">
                <a:latin typeface="Arial" pitchFamily="34" charset="0"/>
                <a:cs typeface="Arial" pitchFamily="34" charset="0"/>
              </a:rPr>
              <a:t> around 1450 AD, the Oromo passed through eras known as </a:t>
            </a:r>
            <a:r>
              <a:rPr lang="en-GB" sz="2800" b="1" dirty="0" err="1">
                <a:solidFill>
                  <a:srgbClr val="C00000"/>
                </a:solidFill>
                <a:latin typeface="Arial" pitchFamily="34" charset="0"/>
                <a:cs typeface="Arial" pitchFamily="34" charset="0"/>
              </a:rPr>
              <a:t>Teya</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Tesa</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Munyo</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Suftu</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Madille</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Abroji</a:t>
            </a:r>
            <a:r>
              <a:rPr lang="en-GB" sz="2800" b="1" dirty="0">
                <a:solidFill>
                  <a:srgbClr val="C00000"/>
                </a:solidFill>
                <a:latin typeface="Arial" pitchFamily="34" charset="0"/>
                <a:cs typeface="Arial" pitchFamily="34" charset="0"/>
              </a:rPr>
              <a:t>, </a:t>
            </a:r>
            <a:r>
              <a:rPr lang="en-GB" sz="2800" b="1" dirty="0" err="1">
                <a:solidFill>
                  <a:srgbClr val="C00000"/>
                </a:solidFill>
                <a:latin typeface="Arial" pitchFamily="34" charset="0"/>
                <a:cs typeface="Arial" pitchFamily="34" charset="0"/>
              </a:rPr>
              <a:t>Dhittacha</a:t>
            </a:r>
            <a:r>
              <a:rPr lang="en-GB" sz="2800" b="1" dirty="0">
                <a:solidFill>
                  <a:srgbClr val="C00000"/>
                </a:solidFill>
                <a:latin typeface="Arial" pitchFamily="34" charset="0"/>
                <a:cs typeface="Arial" pitchFamily="34" charset="0"/>
              </a:rPr>
              <a:t> and Warden</a:t>
            </a:r>
            <a:r>
              <a:rPr lang="en-GB" sz="2800" dirty="0">
                <a:latin typeface="Arial" pitchFamily="34" charset="0"/>
                <a:cs typeface="Arial" pitchFamily="34" charset="0"/>
              </a:rPr>
              <a:t>. </a:t>
            </a:r>
            <a:endParaRPr lang="en-GB" sz="2800" dirty="0" smtClean="0">
              <a:latin typeface="Arial" pitchFamily="34" charset="0"/>
              <a:cs typeface="Arial" pitchFamily="34" charset="0"/>
            </a:endParaRPr>
          </a:p>
          <a:p>
            <a:pPr algn="just">
              <a:buFont typeface="Wingdings" pitchFamily="2" charset="2"/>
              <a:buChar char="ü"/>
            </a:pPr>
            <a:r>
              <a:rPr lang="en-GB" sz="2800" dirty="0" err="1" smtClean="0">
                <a:latin typeface="Arial" pitchFamily="34" charset="0"/>
                <a:cs typeface="Arial" pitchFamily="34" charset="0"/>
              </a:rPr>
              <a:t>Gadaa</a:t>
            </a:r>
            <a:r>
              <a:rPr lang="en-GB" sz="2800" dirty="0" smtClean="0">
                <a:latin typeface="Arial" pitchFamily="34" charset="0"/>
                <a:cs typeface="Arial" pitchFamily="34" charset="0"/>
              </a:rPr>
              <a:t> </a:t>
            </a:r>
            <a:r>
              <a:rPr lang="en-GB" sz="2800" dirty="0">
                <a:latin typeface="Arial" pitchFamily="34" charset="0"/>
                <a:cs typeface="Arial" pitchFamily="34" charset="0"/>
              </a:rPr>
              <a:t>was interrupted and restored during many eras because of various internal and external factors. </a:t>
            </a:r>
          </a:p>
          <a:p>
            <a:endParaRPr lang="en-GB" dirty="0"/>
          </a:p>
        </p:txBody>
      </p:sp>
    </p:spTree>
    <p:extLst>
      <p:ext uri="{BB962C8B-B14F-4D97-AF65-F5344CB8AC3E}">
        <p14:creationId xmlns:p14="http://schemas.microsoft.com/office/powerpoint/2010/main" val="4013486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76672"/>
            <a:ext cx="8229600" cy="5530619"/>
          </a:xfrm>
        </p:spPr>
        <p:txBody>
          <a:bodyPr/>
          <a:lstStyle/>
          <a:p>
            <a:endParaRPr lang="en-GB" dirty="0" smtClean="0"/>
          </a:p>
          <a:p>
            <a:r>
              <a:rPr lang="en-GB" dirty="0" smtClean="0"/>
              <a:t>The </a:t>
            </a:r>
            <a:r>
              <a:rPr lang="en-GB" dirty="0" err="1"/>
              <a:t>Gadaa</a:t>
            </a:r>
            <a:r>
              <a:rPr lang="en-GB" dirty="0"/>
              <a:t> system constituted elements of democracy such as </a:t>
            </a:r>
            <a:r>
              <a:rPr lang="en-GB" dirty="0">
                <a:solidFill>
                  <a:srgbClr val="C00000"/>
                </a:solidFill>
              </a:rPr>
              <a:t>periodic succession every eight years and power sharing to prevent one-man rule</a:t>
            </a:r>
            <a:r>
              <a:rPr lang="en-GB" dirty="0" smtClean="0">
                <a:solidFill>
                  <a:srgbClr val="C00000"/>
                </a:solidFill>
              </a:rPr>
              <a:t>.</a:t>
            </a:r>
          </a:p>
          <a:p>
            <a:r>
              <a:rPr lang="en-GB" dirty="0" smtClean="0"/>
              <a:t> </a:t>
            </a:r>
            <a:r>
              <a:rPr lang="en-GB" dirty="0"/>
              <a:t>Other principles of the system included </a:t>
            </a:r>
            <a:r>
              <a:rPr lang="en-GB" dirty="0">
                <a:solidFill>
                  <a:srgbClr val="C00000"/>
                </a:solidFill>
              </a:rPr>
              <a:t>representation of all lineages, clans and confederacies</a:t>
            </a:r>
            <a:r>
              <a:rPr lang="en-GB" dirty="0" smtClean="0"/>
              <a:t>.</a:t>
            </a:r>
          </a:p>
          <a:p>
            <a:r>
              <a:rPr lang="en-GB" dirty="0" smtClean="0"/>
              <a:t> </a:t>
            </a:r>
            <a:r>
              <a:rPr lang="en-GB" dirty="0"/>
              <a:t>It also served as a </a:t>
            </a:r>
            <a:r>
              <a:rPr lang="en-GB" dirty="0">
                <a:solidFill>
                  <a:srgbClr val="C00000"/>
                </a:solidFill>
              </a:rPr>
              <a:t>mechanism for socialization, education, the maintenance of peace and order, and social </a:t>
            </a:r>
            <a:r>
              <a:rPr lang="en-GB" dirty="0" smtClean="0">
                <a:solidFill>
                  <a:srgbClr val="C00000"/>
                </a:solidFill>
              </a:rPr>
              <a:t>cohesion.</a:t>
            </a:r>
            <a:endParaRPr lang="en-GB" dirty="0">
              <a:solidFill>
                <a:srgbClr val="C00000"/>
              </a:solidFill>
            </a:endParaRPr>
          </a:p>
        </p:txBody>
      </p:sp>
    </p:spTree>
    <p:extLst>
      <p:ext uri="{BB962C8B-B14F-4D97-AF65-F5344CB8AC3E}">
        <p14:creationId xmlns:p14="http://schemas.microsoft.com/office/powerpoint/2010/main" val="2703525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a:bodyPr>
          <a:lstStyle/>
          <a:p>
            <a:r>
              <a:rPr lang="en-GB" dirty="0"/>
              <a:t>The Oromo were organized into </a:t>
            </a:r>
            <a:r>
              <a:rPr lang="en-GB" dirty="0">
                <a:solidFill>
                  <a:srgbClr val="C00000"/>
                </a:solidFill>
              </a:rPr>
              <a:t>ten age-grades</a:t>
            </a:r>
            <a:r>
              <a:rPr lang="en-GB" dirty="0"/>
              <a:t> and </a:t>
            </a:r>
            <a:r>
              <a:rPr lang="en-GB" dirty="0">
                <a:solidFill>
                  <a:srgbClr val="C00000"/>
                </a:solidFill>
              </a:rPr>
              <a:t>generation sets </a:t>
            </a:r>
            <a:r>
              <a:rPr lang="en-GB" dirty="0"/>
              <a:t>defining members' responsibilities</a:t>
            </a:r>
            <a:r>
              <a:rPr lang="en-GB" dirty="0" smtClean="0"/>
              <a:t>.</a:t>
            </a:r>
          </a:p>
          <a:p>
            <a:r>
              <a:rPr lang="en-GB" dirty="0" smtClean="0"/>
              <a:t> </a:t>
            </a:r>
            <a:r>
              <a:rPr lang="en-GB" dirty="0"/>
              <a:t>The system provided a framework that institutionalized relationships between seniors and juniors and egalitarian relations among members of a grade. </a:t>
            </a:r>
            <a:endParaRPr lang="en-GB" dirty="0" smtClean="0"/>
          </a:p>
          <a:p>
            <a:r>
              <a:rPr lang="en-GB" dirty="0" smtClean="0"/>
              <a:t>Sons </a:t>
            </a:r>
            <a:r>
              <a:rPr lang="en-GB" dirty="0"/>
              <a:t>joined the first grade as members of the </a:t>
            </a:r>
            <a:r>
              <a:rPr lang="en-GB" dirty="0" err="1"/>
              <a:t>Gadaa</a:t>
            </a:r>
            <a:r>
              <a:rPr lang="en-GB" dirty="0"/>
              <a:t> class (generation class) </a:t>
            </a:r>
            <a:r>
              <a:rPr lang="en-GB" dirty="0">
                <a:solidFill>
                  <a:srgbClr val="C00000"/>
                </a:solidFill>
              </a:rPr>
              <a:t>forty years after their fathers. </a:t>
            </a:r>
            <a:endParaRPr lang="en-GB" dirty="0" smtClean="0">
              <a:solidFill>
                <a:srgbClr val="C00000"/>
              </a:solidFill>
            </a:endParaRPr>
          </a:p>
          <a:p>
            <a:r>
              <a:rPr lang="en-GB" dirty="0" smtClean="0"/>
              <a:t>A </a:t>
            </a:r>
            <a:r>
              <a:rPr lang="en-GB" dirty="0"/>
              <a:t>common version of age grades and roles associated with them are indicated as follows: </a:t>
            </a:r>
          </a:p>
        </p:txBody>
      </p:sp>
    </p:spTree>
    <p:extLst>
      <p:ext uri="{BB962C8B-B14F-4D97-AF65-F5344CB8AC3E}">
        <p14:creationId xmlns:p14="http://schemas.microsoft.com/office/powerpoint/2010/main" val="13441564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568" y="548680"/>
            <a:ext cx="7427849" cy="5537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08881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lnSpcReduction="10000"/>
          </a:bodyPr>
          <a:lstStyle/>
          <a:p>
            <a:r>
              <a:rPr lang="en-GB" dirty="0"/>
              <a:t>The </a:t>
            </a:r>
            <a:r>
              <a:rPr lang="en-GB" dirty="0" err="1"/>
              <a:t>Luba</a:t>
            </a:r>
            <a:r>
              <a:rPr lang="en-GB" dirty="0"/>
              <a:t> group assumed power for eight years</a:t>
            </a:r>
            <a:r>
              <a:rPr lang="en-GB" dirty="0" smtClean="0"/>
              <a:t>.</a:t>
            </a:r>
          </a:p>
          <a:p>
            <a:r>
              <a:rPr lang="en-GB" dirty="0" smtClean="0"/>
              <a:t> </a:t>
            </a:r>
            <a:r>
              <a:rPr lang="en-GB" dirty="0"/>
              <a:t>The head of the government, </a:t>
            </a:r>
            <a:r>
              <a:rPr lang="en-GB" dirty="0">
                <a:solidFill>
                  <a:srgbClr val="C00000"/>
                </a:solidFill>
              </a:rPr>
              <a:t>Abba- </a:t>
            </a:r>
            <a:r>
              <a:rPr lang="en-GB" dirty="0" err="1">
                <a:solidFill>
                  <a:srgbClr val="C00000"/>
                </a:solidFill>
              </a:rPr>
              <a:t>Gadaa</a:t>
            </a:r>
            <a:r>
              <a:rPr lang="en-GB" dirty="0">
                <a:solidFill>
                  <a:srgbClr val="C00000"/>
                </a:solidFill>
              </a:rPr>
              <a:t> </a:t>
            </a:r>
            <a:r>
              <a:rPr lang="en-GB" dirty="0" err="1">
                <a:solidFill>
                  <a:srgbClr val="C00000"/>
                </a:solidFill>
              </a:rPr>
              <a:t>Fite</a:t>
            </a:r>
            <a:r>
              <a:rPr lang="en-GB" dirty="0">
                <a:solidFill>
                  <a:srgbClr val="C00000"/>
                </a:solidFill>
              </a:rPr>
              <a:t> </a:t>
            </a:r>
            <a:r>
              <a:rPr lang="en-GB" dirty="0"/>
              <a:t>(literally ―father of the </a:t>
            </a:r>
            <a:r>
              <a:rPr lang="en-GB" dirty="0" smtClean="0"/>
              <a:t>period), </a:t>
            </a:r>
            <a:r>
              <a:rPr lang="en-GB" dirty="0"/>
              <a:t>was assisted by several elected representatives. </a:t>
            </a:r>
            <a:endParaRPr lang="en-GB" dirty="0" smtClean="0"/>
          </a:p>
          <a:p>
            <a:r>
              <a:rPr lang="en-GB" dirty="0" smtClean="0"/>
              <a:t>These </a:t>
            </a:r>
            <a:r>
              <a:rPr lang="en-GB" dirty="0"/>
              <a:t>included Abba </a:t>
            </a:r>
            <a:r>
              <a:rPr lang="en-GB" dirty="0" err="1"/>
              <a:t>Bokku</a:t>
            </a:r>
            <a:r>
              <a:rPr lang="en-GB" dirty="0"/>
              <a:t> (father of </a:t>
            </a:r>
            <a:r>
              <a:rPr lang="en-GB" dirty="0" err="1"/>
              <a:t>scepter</a:t>
            </a:r>
            <a:r>
              <a:rPr lang="en-GB" dirty="0"/>
              <a:t>), </a:t>
            </a:r>
            <a:endParaRPr lang="en-GB" dirty="0" smtClean="0"/>
          </a:p>
          <a:p>
            <a:r>
              <a:rPr lang="en-GB" dirty="0" smtClean="0"/>
              <a:t>Abba </a:t>
            </a:r>
            <a:r>
              <a:rPr lang="en-GB" dirty="0" err="1"/>
              <a:t>Mati</a:t>
            </a:r>
            <a:r>
              <a:rPr lang="en-GB" dirty="0"/>
              <a:t> (in charge of </a:t>
            </a:r>
            <a:r>
              <a:rPr lang="en-GB" dirty="0" err="1"/>
              <a:t>ada</a:t>
            </a:r>
            <a:r>
              <a:rPr lang="en-GB" dirty="0"/>
              <a:t>/culture</a:t>
            </a:r>
            <a:r>
              <a:rPr lang="en-GB" dirty="0" smtClean="0"/>
              <a:t>),</a:t>
            </a:r>
          </a:p>
          <a:p>
            <a:r>
              <a:rPr lang="en-GB" dirty="0" smtClean="0"/>
              <a:t> </a:t>
            </a:r>
            <a:r>
              <a:rPr lang="en-GB" dirty="0"/>
              <a:t>Abba </a:t>
            </a:r>
            <a:r>
              <a:rPr lang="en-GB" dirty="0" err="1"/>
              <a:t>Chaffe</a:t>
            </a:r>
            <a:r>
              <a:rPr lang="en-GB" dirty="0"/>
              <a:t> (head of the assembly), </a:t>
            </a:r>
            <a:endParaRPr lang="en-GB" dirty="0" smtClean="0"/>
          </a:p>
          <a:p>
            <a:r>
              <a:rPr lang="en-GB" dirty="0" smtClean="0"/>
              <a:t>Abba </a:t>
            </a:r>
            <a:r>
              <a:rPr lang="en-GB" dirty="0" err="1"/>
              <a:t>Dula</a:t>
            </a:r>
            <a:r>
              <a:rPr lang="en-GB" dirty="0"/>
              <a:t> (war leader), </a:t>
            </a:r>
            <a:endParaRPr lang="en-GB" dirty="0" smtClean="0"/>
          </a:p>
          <a:p>
            <a:r>
              <a:rPr lang="en-GB" dirty="0" smtClean="0"/>
              <a:t>Abba </a:t>
            </a:r>
            <a:r>
              <a:rPr lang="en-GB" dirty="0"/>
              <a:t>Sera (father of law), </a:t>
            </a:r>
            <a:endParaRPr lang="en-GB" dirty="0" smtClean="0"/>
          </a:p>
          <a:p>
            <a:r>
              <a:rPr lang="en-GB" dirty="0" smtClean="0"/>
              <a:t>Abba </a:t>
            </a:r>
            <a:r>
              <a:rPr lang="en-GB" dirty="0" err="1"/>
              <a:t>Alanga</a:t>
            </a:r>
            <a:r>
              <a:rPr lang="en-GB" dirty="0"/>
              <a:t> (judge), </a:t>
            </a:r>
            <a:endParaRPr lang="en-GB" dirty="0" smtClean="0"/>
          </a:p>
          <a:p>
            <a:r>
              <a:rPr lang="en-GB" dirty="0" smtClean="0"/>
              <a:t>Abba </a:t>
            </a:r>
            <a:r>
              <a:rPr lang="en-GB" dirty="0" err="1"/>
              <a:t>Sa'a</a:t>
            </a:r>
            <a:r>
              <a:rPr lang="en-GB" dirty="0"/>
              <a:t> (father of treasury), etc. </a:t>
            </a:r>
          </a:p>
        </p:txBody>
      </p:sp>
    </p:spTree>
    <p:extLst>
      <p:ext uri="{BB962C8B-B14F-4D97-AF65-F5344CB8AC3E}">
        <p14:creationId xmlns:p14="http://schemas.microsoft.com/office/powerpoint/2010/main" val="5707034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GB" dirty="0"/>
              <a:t>The </a:t>
            </a:r>
            <a:r>
              <a:rPr lang="en-GB" b="1" dirty="0">
                <a:solidFill>
                  <a:srgbClr val="C00000"/>
                </a:solidFill>
              </a:rPr>
              <a:t>Abba </a:t>
            </a:r>
            <a:r>
              <a:rPr lang="en-GB" b="1" dirty="0" err="1">
                <a:solidFill>
                  <a:srgbClr val="C00000"/>
                </a:solidFill>
              </a:rPr>
              <a:t>Muda</a:t>
            </a:r>
            <a:r>
              <a:rPr lang="en-GB" b="1" dirty="0">
                <a:solidFill>
                  <a:srgbClr val="C00000"/>
                </a:solidFill>
              </a:rPr>
              <a:t> (senior </a:t>
            </a:r>
            <a:r>
              <a:rPr lang="en-GB" b="1" dirty="0" err="1">
                <a:solidFill>
                  <a:srgbClr val="C00000"/>
                </a:solidFill>
              </a:rPr>
              <a:t>Qallu</a:t>
            </a:r>
            <a:r>
              <a:rPr lang="en-GB" dirty="0"/>
              <a:t>) played vital roles in power transfer and legitimizing the ruling </a:t>
            </a:r>
            <a:r>
              <a:rPr lang="en-GB" dirty="0" err="1"/>
              <a:t>Gadaa</a:t>
            </a:r>
            <a:r>
              <a:rPr lang="en-GB" dirty="0"/>
              <a:t> class</a:t>
            </a:r>
            <a:r>
              <a:rPr lang="en-GB" dirty="0" smtClean="0"/>
              <a:t>.</a:t>
            </a:r>
          </a:p>
          <a:p>
            <a:r>
              <a:rPr lang="en-GB" dirty="0" smtClean="0"/>
              <a:t> </a:t>
            </a:r>
            <a:r>
              <a:rPr lang="en-GB" dirty="0"/>
              <a:t>Women formed sisterhood and solidarity groups and maintained their rights by the </a:t>
            </a:r>
            <a:r>
              <a:rPr lang="en-GB" dirty="0" err="1"/>
              <a:t>Sinqe</a:t>
            </a:r>
            <a:r>
              <a:rPr lang="en-GB" dirty="0"/>
              <a:t> institution. </a:t>
            </a:r>
            <a:endParaRPr lang="en-GB" dirty="0" smtClean="0"/>
          </a:p>
          <a:p>
            <a:r>
              <a:rPr lang="en-GB" dirty="0" smtClean="0"/>
              <a:t>Women </a:t>
            </a:r>
            <a:r>
              <a:rPr lang="en-GB" dirty="0"/>
              <a:t>from childhood to old age, i.e. </a:t>
            </a:r>
            <a:r>
              <a:rPr lang="en-GB" dirty="0" err="1"/>
              <a:t>guduru</a:t>
            </a:r>
            <a:r>
              <a:rPr lang="en-GB" dirty="0"/>
              <a:t> (pre-pubescent), </a:t>
            </a:r>
            <a:r>
              <a:rPr lang="en-GB" dirty="0" err="1"/>
              <a:t>qarre</a:t>
            </a:r>
            <a:r>
              <a:rPr lang="en-GB" dirty="0"/>
              <a:t> (adolescent), </a:t>
            </a:r>
            <a:r>
              <a:rPr lang="en-GB" dirty="0" err="1"/>
              <a:t>kalale</a:t>
            </a:r>
            <a:r>
              <a:rPr lang="en-GB" dirty="0"/>
              <a:t> (wives of </a:t>
            </a:r>
            <a:r>
              <a:rPr lang="en-GB" dirty="0" err="1"/>
              <a:t>Luba</a:t>
            </a:r>
            <a:r>
              <a:rPr lang="en-GB" dirty="0"/>
              <a:t> and Yuba) and </a:t>
            </a:r>
            <a:r>
              <a:rPr lang="en-GB" dirty="0" err="1"/>
              <a:t>cifire</a:t>
            </a:r>
            <a:r>
              <a:rPr lang="en-GB" dirty="0"/>
              <a:t> (wives of </a:t>
            </a:r>
            <a:r>
              <a:rPr lang="en-GB" dirty="0" err="1"/>
              <a:t>Gadaamojji</a:t>
            </a:r>
            <a:r>
              <a:rPr lang="en-GB" dirty="0"/>
              <a:t>/above 80 years) were believed to have sacred power. </a:t>
            </a:r>
            <a:endParaRPr lang="en-GB" dirty="0" smtClean="0"/>
          </a:p>
          <a:p>
            <a:r>
              <a:rPr lang="en-GB" dirty="0" smtClean="0"/>
              <a:t>They </a:t>
            </a:r>
            <a:r>
              <a:rPr lang="en-GB" dirty="0"/>
              <a:t>were involved on occasions like </a:t>
            </a:r>
            <a:r>
              <a:rPr lang="en-GB" dirty="0" err="1"/>
              <a:t>arara</a:t>
            </a:r>
            <a:r>
              <a:rPr lang="en-GB" dirty="0"/>
              <a:t> (conflict resolution), </a:t>
            </a:r>
            <a:r>
              <a:rPr lang="en-GB" dirty="0" err="1"/>
              <a:t>guma</a:t>
            </a:r>
            <a:r>
              <a:rPr lang="en-GB" dirty="0"/>
              <a:t> (blood compensation), </a:t>
            </a:r>
            <a:r>
              <a:rPr lang="en-GB" dirty="0" err="1"/>
              <a:t>rakoo</a:t>
            </a:r>
            <a:r>
              <a:rPr lang="en-GB" dirty="0"/>
              <a:t> (marriage commitment), etc.  </a:t>
            </a:r>
          </a:p>
          <a:p>
            <a:r>
              <a:rPr lang="en-GB" dirty="0"/>
              <a:t> </a:t>
            </a:r>
          </a:p>
          <a:p>
            <a:endParaRPr lang="en-GB" dirty="0"/>
          </a:p>
        </p:txBody>
      </p:sp>
      <p:sp>
        <p:nvSpPr>
          <p:cNvPr id="3" name="Title 2"/>
          <p:cNvSpPr>
            <a:spLocks noGrp="1"/>
          </p:cNvSpPr>
          <p:nvPr>
            <p:ph type="title"/>
          </p:nvPr>
        </p:nvSpPr>
        <p:spPr/>
        <p:txBody>
          <a:bodyPr/>
          <a:lstStyle/>
          <a:p>
            <a:endParaRPr lang="en-GB"/>
          </a:p>
        </p:txBody>
      </p:sp>
    </p:spTree>
    <p:extLst>
      <p:ext uri="{BB962C8B-B14F-4D97-AF65-F5344CB8AC3E}">
        <p14:creationId xmlns:p14="http://schemas.microsoft.com/office/powerpoint/2010/main" val="3394054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10000"/>
          </a:bodyPr>
          <a:lstStyle/>
          <a:p>
            <a:r>
              <a:rPr lang="en-GB" dirty="0"/>
              <a:t>The factors for the Oromo movement are both </a:t>
            </a:r>
            <a:r>
              <a:rPr lang="en-GB" dirty="0">
                <a:solidFill>
                  <a:srgbClr val="C00000"/>
                </a:solidFill>
              </a:rPr>
              <a:t>natural and man-made</a:t>
            </a:r>
            <a:r>
              <a:rPr lang="en-GB" dirty="0" smtClean="0"/>
              <a:t>.</a:t>
            </a:r>
          </a:p>
          <a:p>
            <a:r>
              <a:rPr lang="en-GB" dirty="0" smtClean="0"/>
              <a:t> </a:t>
            </a:r>
            <a:r>
              <a:rPr lang="en-GB" dirty="0">
                <a:solidFill>
                  <a:srgbClr val="C00000"/>
                </a:solidFill>
              </a:rPr>
              <a:t>Natural factors </a:t>
            </a:r>
            <a:r>
              <a:rPr lang="en-GB" dirty="0"/>
              <a:t>include </a:t>
            </a:r>
            <a:r>
              <a:rPr lang="en-GB" b="1" dirty="0">
                <a:solidFill>
                  <a:srgbClr val="00B050"/>
                </a:solidFill>
              </a:rPr>
              <a:t>demographic increase and consequent need for extra land to accommodate the growing human and livestock population</a:t>
            </a:r>
            <a:r>
              <a:rPr lang="en-GB" dirty="0"/>
              <a:t>. </a:t>
            </a:r>
            <a:endParaRPr lang="en-GB" dirty="0" smtClean="0"/>
          </a:p>
          <a:p>
            <a:r>
              <a:rPr lang="en-GB" dirty="0" smtClean="0"/>
              <a:t>In </a:t>
            </a:r>
            <a:r>
              <a:rPr lang="en-GB" dirty="0"/>
              <a:t>addition, </a:t>
            </a:r>
            <a:r>
              <a:rPr lang="en-GB" dirty="0">
                <a:solidFill>
                  <a:srgbClr val="00B050"/>
                </a:solidFill>
              </a:rPr>
              <a:t>the Christian-Muslim conflict from the thirteenth to the sixteenth centuries might have pressurized mainly pastoral Oromo groups to leave the lands they had inhabited for other areas. </a:t>
            </a:r>
            <a:endParaRPr lang="en-GB" dirty="0" smtClean="0">
              <a:solidFill>
                <a:srgbClr val="00B050"/>
              </a:solidFill>
            </a:endParaRPr>
          </a:p>
          <a:p>
            <a:r>
              <a:rPr lang="en-GB" dirty="0" smtClean="0"/>
              <a:t>As </a:t>
            </a:r>
            <a:r>
              <a:rPr lang="en-GB" dirty="0"/>
              <a:t>a result, the Oromo organized under </a:t>
            </a:r>
            <a:r>
              <a:rPr lang="en-GB" dirty="0">
                <a:solidFill>
                  <a:srgbClr val="FF0000"/>
                </a:solidFill>
              </a:rPr>
              <a:t>the </a:t>
            </a:r>
            <a:r>
              <a:rPr lang="en-GB" dirty="0" err="1">
                <a:solidFill>
                  <a:srgbClr val="FF0000"/>
                </a:solidFill>
              </a:rPr>
              <a:t>Borana</a:t>
            </a:r>
            <a:r>
              <a:rPr lang="en-GB" dirty="0">
                <a:solidFill>
                  <a:srgbClr val="FF0000"/>
                </a:solidFill>
              </a:rPr>
              <a:t> and </a:t>
            </a:r>
            <a:r>
              <a:rPr lang="en-GB" dirty="0" err="1">
                <a:solidFill>
                  <a:srgbClr val="FF0000"/>
                </a:solidFill>
              </a:rPr>
              <a:t>Barentu</a:t>
            </a:r>
            <a:r>
              <a:rPr lang="en-GB" dirty="0">
                <a:solidFill>
                  <a:srgbClr val="FF0000"/>
                </a:solidFill>
              </a:rPr>
              <a:t> confederacies</a:t>
            </a:r>
            <a:r>
              <a:rPr lang="en-GB" dirty="0"/>
              <a:t> and began moving northward from their common </a:t>
            </a:r>
            <a:r>
              <a:rPr lang="en-GB" dirty="0" err="1"/>
              <a:t>Gadaa</a:t>
            </a:r>
            <a:r>
              <a:rPr lang="en-GB" dirty="0"/>
              <a:t> </a:t>
            </a:r>
            <a:r>
              <a:rPr lang="en-GB" dirty="0" err="1"/>
              <a:t>center</a:t>
            </a:r>
            <a:r>
              <a:rPr lang="en-GB" dirty="0"/>
              <a:t>, </a:t>
            </a:r>
            <a:r>
              <a:rPr lang="en-GB" dirty="0" err="1">
                <a:solidFill>
                  <a:srgbClr val="FF0000"/>
                </a:solidFill>
              </a:rPr>
              <a:t>Madda-Walabu</a:t>
            </a:r>
            <a:r>
              <a:rPr lang="en-GB" dirty="0">
                <a:solidFill>
                  <a:srgbClr val="FF0000"/>
                </a:solidFill>
              </a:rPr>
              <a:t>. </a:t>
            </a:r>
          </a:p>
        </p:txBody>
      </p:sp>
      <p:sp>
        <p:nvSpPr>
          <p:cNvPr id="3" name="Title 2"/>
          <p:cNvSpPr>
            <a:spLocks noGrp="1"/>
          </p:cNvSpPr>
          <p:nvPr>
            <p:ph type="title"/>
          </p:nvPr>
        </p:nvSpPr>
        <p:spPr/>
        <p:txBody>
          <a:bodyPr>
            <a:normAutofit fontScale="90000"/>
          </a:bodyPr>
          <a:lstStyle/>
          <a:p>
            <a:r>
              <a:rPr lang="en-GB" dirty="0">
                <a:solidFill>
                  <a:srgbClr val="C00000"/>
                </a:solidFill>
              </a:rPr>
              <a:t>The Oromo Population Movement (1522-1618</a:t>
            </a:r>
          </a:p>
        </p:txBody>
      </p:sp>
    </p:spTree>
    <p:extLst>
      <p:ext uri="{BB962C8B-B14F-4D97-AF65-F5344CB8AC3E}">
        <p14:creationId xmlns:p14="http://schemas.microsoft.com/office/powerpoint/2010/main" val="11902283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88640"/>
            <a:ext cx="8229600" cy="5818651"/>
          </a:xfrm>
        </p:spPr>
        <p:txBody>
          <a:bodyPr>
            <a:normAutofit fontScale="92500" lnSpcReduction="20000"/>
          </a:bodyPr>
          <a:lstStyle/>
          <a:p>
            <a:r>
              <a:rPr lang="en-GB" dirty="0"/>
              <a:t>The Oromo movement took place from </a:t>
            </a:r>
            <a:r>
              <a:rPr lang="en-GB" dirty="0">
                <a:solidFill>
                  <a:srgbClr val="FF0000"/>
                </a:solidFill>
              </a:rPr>
              <a:t>1522 to 1618 under twelve successive </a:t>
            </a:r>
            <a:r>
              <a:rPr lang="en-GB" dirty="0" err="1">
                <a:solidFill>
                  <a:srgbClr val="FF0000"/>
                </a:solidFill>
              </a:rPr>
              <a:t>Butta</a:t>
            </a:r>
            <a:r>
              <a:rPr lang="en-GB" dirty="0">
                <a:solidFill>
                  <a:srgbClr val="FF0000"/>
                </a:solidFill>
              </a:rPr>
              <a:t> wars of successive </a:t>
            </a:r>
            <a:r>
              <a:rPr lang="en-GB" dirty="0" err="1">
                <a:solidFill>
                  <a:srgbClr val="FF0000"/>
                </a:solidFill>
              </a:rPr>
              <a:t>Gogessa</a:t>
            </a:r>
            <a:r>
              <a:rPr lang="en-GB" dirty="0">
                <a:solidFill>
                  <a:srgbClr val="FF0000"/>
                </a:solidFill>
              </a:rPr>
              <a:t>/</a:t>
            </a:r>
            <a:r>
              <a:rPr lang="en-GB" dirty="0" err="1">
                <a:solidFill>
                  <a:srgbClr val="FF0000"/>
                </a:solidFill>
              </a:rPr>
              <a:t>Gadaa</a:t>
            </a:r>
            <a:r>
              <a:rPr lang="en-GB" dirty="0">
                <a:solidFill>
                  <a:srgbClr val="FF0000"/>
                </a:solidFill>
              </a:rPr>
              <a:t> classes. </a:t>
            </a:r>
            <a:endParaRPr lang="en-GB" dirty="0" smtClean="0">
              <a:solidFill>
                <a:srgbClr val="FF0000"/>
              </a:solidFill>
            </a:endParaRPr>
          </a:p>
          <a:p>
            <a:r>
              <a:rPr lang="en-GB" dirty="0" smtClean="0"/>
              <a:t>Accordingly</a:t>
            </a:r>
            <a:r>
              <a:rPr lang="en-GB" dirty="0"/>
              <a:t>, the </a:t>
            </a:r>
            <a:r>
              <a:rPr lang="en-GB" dirty="0">
                <a:solidFill>
                  <a:srgbClr val="FF0000"/>
                </a:solidFill>
              </a:rPr>
              <a:t>Melba (1522-30</a:t>
            </a:r>
            <a:r>
              <a:rPr lang="en-GB" dirty="0"/>
              <a:t>) fought and defeated the Christian regiment </a:t>
            </a:r>
            <a:r>
              <a:rPr lang="en-GB" dirty="0" err="1"/>
              <a:t>Batra</a:t>
            </a:r>
            <a:r>
              <a:rPr lang="en-GB" dirty="0"/>
              <a:t> </a:t>
            </a:r>
            <a:r>
              <a:rPr lang="en-GB" dirty="0" err="1"/>
              <a:t>Amora</a:t>
            </a:r>
            <a:r>
              <a:rPr lang="en-GB" dirty="0"/>
              <a:t> led by </a:t>
            </a:r>
            <a:r>
              <a:rPr lang="en-GB" dirty="0" err="1"/>
              <a:t>Fasil</a:t>
            </a:r>
            <a:r>
              <a:rPr lang="en-GB" dirty="0"/>
              <a:t> and occupied Bale while the </a:t>
            </a:r>
            <a:r>
              <a:rPr lang="en-GB" dirty="0" err="1">
                <a:solidFill>
                  <a:srgbClr val="FF0000"/>
                </a:solidFill>
              </a:rPr>
              <a:t>Mudena</a:t>
            </a:r>
            <a:r>
              <a:rPr lang="en-GB" dirty="0">
                <a:solidFill>
                  <a:srgbClr val="FF0000"/>
                </a:solidFill>
              </a:rPr>
              <a:t> (</a:t>
            </a:r>
            <a:r>
              <a:rPr lang="en-GB" dirty="0" smtClean="0">
                <a:solidFill>
                  <a:srgbClr val="FF0000"/>
                </a:solidFill>
              </a:rPr>
              <a:t>1530-8)</a:t>
            </a:r>
            <a:r>
              <a:rPr lang="en-GB" dirty="0" smtClean="0"/>
              <a:t>reached </a:t>
            </a:r>
            <a:r>
              <a:rPr lang="en-GB" dirty="0"/>
              <a:t>the edge of the Awash River</a:t>
            </a:r>
            <a:r>
              <a:rPr lang="en-GB" dirty="0" smtClean="0"/>
              <a:t>.</a:t>
            </a:r>
          </a:p>
          <a:p>
            <a:r>
              <a:rPr lang="en-GB" dirty="0" smtClean="0"/>
              <a:t> </a:t>
            </a:r>
            <a:r>
              <a:rPr lang="en-GB" dirty="0"/>
              <a:t>The </a:t>
            </a:r>
            <a:r>
              <a:rPr lang="en-GB" dirty="0" err="1">
                <a:solidFill>
                  <a:srgbClr val="FF0000"/>
                </a:solidFill>
              </a:rPr>
              <a:t>Kilole</a:t>
            </a:r>
            <a:r>
              <a:rPr lang="en-GB" dirty="0">
                <a:solidFill>
                  <a:srgbClr val="FF0000"/>
                </a:solidFill>
              </a:rPr>
              <a:t> (1538-46</a:t>
            </a:r>
            <a:r>
              <a:rPr lang="en-GB" dirty="0"/>
              <a:t>) controlled </a:t>
            </a:r>
            <a:r>
              <a:rPr lang="en-GB" dirty="0" err="1"/>
              <a:t>Dawaro</a:t>
            </a:r>
            <a:r>
              <a:rPr lang="en-GB" dirty="0"/>
              <a:t> after defeating the Christian regiment, </a:t>
            </a:r>
            <a:r>
              <a:rPr lang="en-GB" dirty="0" err="1"/>
              <a:t>Adal</a:t>
            </a:r>
            <a:r>
              <a:rPr lang="en-GB" dirty="0"/>
              <a:t> </a:t>
            </a:r>
            <a:r>
              <a:rPr lang="en-GB" dirty="0" err="1"/>
              <a:t>Mabraq</a:t>
            </a:r>
            <a:r>
              <a:rPr lang="en-GB" dirty="0"/>
              <a:t>, while </a:t>
            </a:r>
            <a:r>
              <a:rPr lang="en-GB" dirty="0" err="1">
                <a:solidFill>
                  <a:srgbClr val="FF0000"/>
                </a:solidFill>
              </a:rPr>
              <a:t>Bifole</a:t>
            </a:r>
            <a:r>
              <a:rPr lang="en-GB" dirty="0">
                <a:solidFill>
                  <a:srgbClr val="FF0000"/>
                </a:solidFill>
              </a:rPr>
              <a:t> (1546-54</a:t>
            </a:r>
            <a:r>
              <a:rPr lang="en-GB" dirty="0"/>
              <a:t>) advanced to </a:t>
            </a:r>
            <a:r>
              <a:rPr lang="en-GB" dirty="0" err="1"/>
              <a:t>Waj</a:t>
            </a:r>
            <a:r>
              <a:rPr lang="en-GB" dirty="0"/>
              <a:t> and </a:t>
            </a:r>
            <a:r>
              <a:rPr lang="en-GB" dirty="0" err="1"/>
              <a:t>Erer</a:t>
            </a:r>
            <a:r>
              <a:rPr lang="en-GB" dirty="0"/>
              <a:t>. </a:t>
            </a:r>
            <a:endParaRPr lang="en-GB" dirty="0" smtClean="0"/>
          </a:p>
          <a:p>
            <a:r>
              <a:rPr lang="en-GB" dirty="0" smtClean="0"/>
              <a:t>The </a:t>
            </a:r>
            <a:r>
              <a:rPr lang="en-GB" dirty="0" err="1">
                <a:solidFill>
                  <a:srgbClr val="FF0000"/>
                </a:solidFill>
              </a:rPr>
              <a:t>Michille</a:t>
            </a:r>
            <a:r>
              <a:rPr lang="en-GB" dirty="0">
                <a:solidFill>
                  <a:srgbClr val="FF0000"/>
                </a:solidFill>
              </a:rPr>
              <a:t> (1554-62</a:t>
            </a:r>
            <a:r>
              <a:rPr lang="en-GB" dirty="0"/>
              <a:t>) scored victories over the Christian commander, </a:t>
            </a:r>
            <a:r>
              <a:rPr lang="en-GB" dirty="0" err="1"/>
              <a:t>Dejjazmach</a:t>
            </a:r>
            <a:r>
              <a:rPr lang="en-GB" dirty="0"/>
              <a:t> </a:t>
            </a:r>
            <a:r>
              <a:rPr lang="en-GB" dirty="0" err="1"/>
              <a:t>Hamalmal</a:t>
            </a:r>
            <a:r>
              <a:rPr lang="en-GB" dirty="0"/>
              <a:t> at Dago, and the Jan </a:t>
            </a:r>
            <a:r>
              <a:rPr lang="en-GB" dirty="0" err="1"/>
              <a:t>Amora</a:t>
            </a:r>
            <a:r>
              <a:rPr lang="en-GB" dirty="0"/>
              <a:t> forces as well as the </a:t>
            </a:r>
            <a:r>
              <a:rPr lang="en-GB" dirty="0" err="1"/>
              <a:t>Adal</a:t>
            </a:r>
            <a:r>
              <a:rPr lang="en-GB" dirty="0"/>
              <a:t> force led by Emir </a:t>
            </a:r>
            <a:r>
              <a:rPr lang="en-GB" dirty="0" err="1"/>
              <a:t>Nur</a:t>
            </a:r>
            <a:r>
              <a:rPr lang="en-GB" dirty="0"/>
              <a:t> at Mount </a:t>
            </a:r>
            <a:r>
              <a:rPr lang="en-GB" dirty="0" err="1"/>
              <a:t>Hazalo</a:t>
            </a:r>
            <a:r>
              <a:rPr lang="en-GB" dirty="0"/>
              <a:t>. </a:t>
            </a:r>
            <a:endParaRPr lang="en-GB" dirty="0" smtClean="0"/>
          </a:p>
          <a:p>
            <a:r>
              <a:rPr lang="en-GB" dirty="0" smtClean="0"/>
              <a:t>The </a:t>
            </a:r>
            <a:r>
              <a:rPr lang="en-GB" dirty="0" err="1"/>
              <a:t>Hambisa</a:t>
            </a:r>
            <a:r>
              <a:rPr lang="en-GB" dirty="0"/>
              <a:t>/</a:t>
            </a:r>
            <a:r>
              <a:rPr lang="en-GB" dirty="0" err="1"/>
              <a:t>Harmufa</a:t>
            </a:r>
            <a:r>
              <a:rPr lang="en-GB" dirty="0"/>
              <a:t> (1562-70) fought Minas‘ force at </a:t>
            </a:r>
            <a:r>
              <a:rPr lang="en-GB" dirty="0" err="1"/>
              <a:t>Qacina</a:t>
            </a:r>
            <a:r>
              <a:rPr lang="en-GB" dirty="0"/>
              <a:t> and </a:t>
            </a:r>
            <a:r>
              <a:rPr lang="en-GB" dirty="0" err="1"/>
              <a:t>Wayyata</a:t>
            </a:r>
            <a:r>
              <a:rPr lang="en-GB" dirty="0"/>
              <a:t>, occupied </a:t>
            </a:r>
            <a:r>
              <a:rPr lang="en-GB" dirty="0" err="1"/>
              <a:t>Angot</a:t>
            </a:r>
            <a:r>
              <a:rPr lang="en-GB" dirty="0"/>
              <a:t>, </a:t>
            </a:r>
            <a:r>
              <a:rPr lang="en-GB" dirty="0" err="1"/>
              <a:t>Ganzyi</a:t>
            </a:r>
            <a:r>
              <a:rPr lang="en-GB" dirty="0"/>
              <a:t>, </a:t>
            </a:r>
            <a:r>
              <a:rPr lang="en-GB" dirty="0" err="1"/>
              <a:t>Sayint</a:t>
            </a:r>
            <a:r>
              <a:rPr lang="en-GB" dirty="0"/>
              <a:t> etc. </a:t>
            </a:r>
          </a:p>
        </p:txBody>
      </p:sp>
    </p:spTree>
    <p:extLst>
      <p:ext uri="{BB962C8B-B14F-4D97-AF65-F5344CB8AC3E}">
        <p14:creationId xmlns:p14="http://schemas.microsoft.com/office/powerpoint/2010/main" val="9273739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435280" cy="5386603"/>
          </a:xfrm>
        </p:spPr>
        <p:txBody>
          <a:bodyPr>
            <a:normAutofit fontScale="77500" lnSpcReduction="20000"/>
          </a:bodyPr>
          <a:lstStyle/>
          <a:p>
            <a:r>
              <a:rPr lang="en-GB" sz="2800" dirty="0"/>
              <a:t>Emperor </a:t>
            </a:r>
            <a:r>
              <a:rPr lang="en-GB" sz="2800" dirty="0" err="1"/>
              <a:t>Sartsa</a:t>
            </a:r>
            <a:r>
              <a:rPr lang="en-GB" sz="2800" dirty="0"/>
              <a:t>- </a:t>
            </a:r>
            <a:r>
              <a:rPr lang="en-GB" sz="2800" dirty="0" err="1"/>
              <a:t>Dengel‘s</a:t>
            </a:r>
            <a:r>
              <a:rPr lang="en-GB" sz="2800" dirty="0"/>
              <a:t> cavalry led by </a:t>
            </a:r>
            <a:r>
              <a:rPr lang="en-GB" sz="2800" b="1" dirty="0" err="1">
                <a:solidFill>
                  <a:srgbClr val="00B050"/>
                </a:solidFill>
              </a:rPr>
              <a:t>Azazh</a:t>
            </a:r>
            <a:r>
              <a:rPr lang="en-GB" sz="2800" b="1" dirty="0">
                <a:solidFill>
                  <a:srgbClr val="00B050"/>
                </a:solidFill>
              </a:rPr>
              <a:t> </a:t>
            </a:r>
            <a:r>
              <a:rPr lang="en-GB" sz="2800" b="1" dirty="0" err="1">
                <a:solidFill>
                  <a:srgbClr val="00B050"/>
                </a:solidFill>
              </a:rPr>
              <a:t>Halibo</a:t>
            </a:r>
            <a:r>
              <a:rPr lang="en-GB" sz="2800" b="1" dirty="0">
                <a:solidFill>
                  <a:srgbClr val="00B050"/>
                </a:solidFill>
              </a:rPr>
              <a:t> defeated </a:t>
            </a:r>
            <a:r>
              <a:rPr lang="en-GB" sz="2800" b="1" dirty="0" err="1">
                <a:solidFill>
                  <a:srgbClr val="00B050"/>
                </a:solidFill>
              </a:rPr>
              <a:t>Robale</a:t>
            </a:r>
            <a:r>
              <a:rPr lang="en-GB" sz="2800" b="1" dirty="0">
                <a:solidFill>
                  <a:srgbClr val="00B050"/>
                </a:solidFill>
              </a:rPr>
              <a:t> </a:t>
            </a:r>
            <a:r>
              <a:rPr lang="en-GB" sz="2800" b="1" dirty="0" err="1">
                <a:solidFill>
                  <a:srgbClr val="00B050"/>
                </a:solidFill>
              </a:rPr>
              <a:t>Gadaa</a:t>
            </a:r>
            <a:r>
              <a:rPr lang="en-GB" sz="2800" b="1" dirty="0">
                <a:solidFill>
                  <a:srgbClr val="00B050"/>
                </a:solidFill>
              </a:rPr>
              <a:t> (1570-78) at </a:t>
            </a:r>
            <a:r>
              <a:rPr lang="en-GB" sz="2800" b="1" dirty="0" err="1">
                <a:solidFill>
                  <a:srgbClr val="00B050"/>
                </a:solidFill>
              </a:rPr>
              <a:t>Woyna</a:t>
            </a:r>
            <a:r>
              <a:rPr lang="en-GB" sz="2800" b="1" dirty="0">
                <a:solidFill>
                  <a:srgbClr val="00B050"/>
                </a:solidFill>
              </a:rPr>
              <a:t> </a:t>
            </a:r>
            <a:r>
              <a:rPr lang="en-GB" sz="2800" b="1" dirty="0" err="1">
                <a:solidFill>
                  <a:srgbClr val="00B050"/>
                </a:solidFill>
              </a:rPr>
              <a:t>Dega</a:t>
            </a:r>
            <a:r>
              <a:rPr lang="en-GB" sz="2800" b="1" dirty="0">
                <a:solidFill>
                  <a:srgbClr val="00B050"/>
                </a:solidFill>
              </a:rPr>
              <a:t> in 1574</a:t>
            </a:r>
            <a:r>
              <a:rPr lang="en-GB" sz="2800" dirty="0"/>
              <a:t>, but </a:t>
            </a:r>
            <a:r>
              <a:rPr lang="en-GB" sz="2800" dirty="0" err="1"/>
              <a:t>Robale</a:t>
            </a:r>
            <a:r>
              <a:rPr lang="en-GB" sz="2800" dirty="0"/>
              <a:t> recovered and defeated the force of </a:t>
            </a:r>
            <a:r>
              <a:rPr lang="en-GB" sz="2800" dirty="0" err="1"/>
              <a:t>Azmach</a:t>
            </a:r>
            <a:r>
              <a:rPr lang="en-GB" sz="2800" dirty="0"/>
              <a:t> </a:t>
            </a:r>
            <a:r>
              <a:rPr lang="en-GB" sz="2800" dirty="0" err="1"/>
              <a:t>Zara‘a</a:t>
            </a:r>
            <a:r>
              <a:rPr lang="en-GB" sz="2800" dirty="0"/>
              <a:t> </a:t>
            </a:r>
            <a:r>
              <a:rPr lang="en-GB" sz="2800" dirty="0" err="1"/>
              <a:t>Yohannis</a:t>
            </a:r>
            <a:r>
              <a:rPr lang="en-GB" sz="2800" dirty="0"/>
              <a:t>, chief of the Christian dignitaries. </a:t>
            </a:r>
            <a:endParaRPr lang="en-GB" sz="2800" dirty="0" smtClean="0"/>
          </a:p>
          <a:p>
            <a:r>
              <a:rPr lang="en-GB" sz="2800" dirty="0" smtClean="0"/>
              <a:t>The </a:t>
            </a:r>
            <a:r>
              <a:rPr lang="en-GB" sz="2800" dirty="0" err="1">
                <a:solidFill>
                  <a:srgbClr val="FF0000"/>
                </a:solidFill>
              </a:rPr>
              <a:t>Birmaji</a:t>
            </a:r>
            <a:r>
              <a:rPr lang="en-GB" sz="2800" dirty="0">
                <a:solidFill>
                  <a:srgbClr val="FF0000"/>
                </a:solidFill>
              </a:rPr>
              <a:t> (1578-86</a:t>
            </a:r>
            <a:r>
              <a:rPr lang="en-GB" sz="2800" dirty="0"/>
              <a:t>) controlled </a:t>
            </a:r>
            <a:r>
              <a:rPr lang="en-GB" sz="2800" dirty="0" err="1"/>
              <a:t>Ar'ine</a:t>
            </a:r>
            <a:r>
              <a:rPr lang="en-GB" sz="2800" dirty="0"/>
              <a:t> in </a:t>
            </a:r>
            <a:r>
              <a:rPr lang="en-GB" sz="2800" dirty="0" err="1"/>
              <a:t>Waj</a:t>
            </a:r>
            <a:r>
              <a:rPr lang="en-GB" sz="2800" dirty="0"/>
              <a:t>, crossed </a:t>
            </a:r>
            <a:r>
              <a:rPr lang="en-GB" sz="2800" dirty="0" err="1"/>
              <a:t>Jama</a:t>
            </a:r>
            <a:r>
              <a:rPr lang="en-GB" sz="2800" dirty="0"/>
              <a:t> to </a:t>
            </a:r>
            <a:r>
              <a:rPr lang="en-GB" sz="2800" dirty="0" err="1"/>
              <a:t>Weleqa</a:t>
            </a:r>
            <a:r>
              <a:rPr lang="en-GB" sz="2800" dirty="0"/>
              <a:t> and overwhelmed </a:t>
            </a:r>
            <a:r>
              <a:rPr lang="en-GB" sz="2800" dirty="0" err="1"/>
              <a:t>Azmach</a:t>
            </a:r>
            <a:r>
              <a:rPr lang="en-GB" sz="2800" dirty="0"/>
              <a:t> </a:t>
            </a:r>
            <a:r>
              <a:rPr lang="en-GB" sz="2800" dirty="0" err="1"/>
              <a:t>Deharegot‘s</a:t>
            </a:r>
            <a:r>
              <a:rPr lang="en-GB" sz="2800" dirty="0"/>
              <a:t> army</a:t>
            </a:r>
            <a:r>
              <a:rPr lang="en-GB" sz="2800" dirty="0" smtClean="0"/>
              <a:t>.</a:t>
            </a:r>
          </a:p>
          <a:p>
            <a:r>
              <a:rPr lang="en-GB" sz="2800" dirty="0" smtClean="0"/>
              <a:t> </a:t>
            </a:r>
            <a:r>
              <a:rPr lang="en-GB" sz="2800" dirty="0">
                <a:solidFill>
                  <a:srgbClr val="FF0000"/>
                </a:solidFill>
              </a:rPr>
              <a:t>The </a:t>
            </a:r>
            <a:r>
              <a:rPr lang="en-GB" sz="2800" dirty="0" err="1">
                <a:solidFill>
                  <a:srgbClr val="FF0000"/>
                </a:solidFill>
              </a:rPr>
              <a:t>Mul‘ata</a:t>
            </a:r>
            <a:r>
              <a:rPr lang="en-GB" sz="2800" dirty="0">
                <a:solidFill>
                  <a:srgbClr val="FF0000"/>
                </a:solidFill>
              </a:rPr>
              <a:t> (1586-94</a:t>
            </a:r>
            <a:r>
              <a:rPr lang="en-GB" sz="2800" dirty="0"/>
              <a:t>) seized </a:t>
            </a:r>
            <a:r>
              <a:rPr lang="en-GB" sz="2800" dirty="0" err="1"/>
              <a:t>Bizamo</a:t>
            </a:r>
            <a:r>
              <a:rPr lang="en-GB" sz="2800" dirty="0"/>
              <a:t>, </a:t>
            </a:r>
            <a:r>
              <a:rPr lang="en-GB" sz="2800" dirty="0" err="1"/>
              <a:t>Damot</a:t>
            </a:r>
            <a:r>
              <a:rPr lang="en-GB" sz="2800" dirty="0"/>
              <a:t>, </a:t>
            </a:r>
            <a:r>
              <a:rPr lang="en-GB" sz="2800" dirty="0" err="1"/>
              <a:t>Gafat</a:t>
            </a:r>
            <a:r>
              <a:rPr lang="en-GB" sz="2800" dirty="0"/>
              <a:t>, </a:t>
            </a:r>
            <a:r>
              <a:rPr lang="en-GB" sz="2800" dirty="0" err="1"/>
              <a:t>Dambiya</a:t>
            </a:r>
            <a:r>
              <a:rPr lang="en-GB" sz="2800" dirty="0"/>
              <a:t>, </a:t>
            </a:r>
            <a:r>
              <a:rPr lang="en-GB" sz="2800" dirty="0" err="1" smtClean="0"/>
              <a:t>etc</a:t>
            </a:r>
            <a:endParaRPr lang="en-GB" sz="2800" dirty="0" smtClean="0"/>
          </a:p>
          <a:p>
            <a:r>
              <a:rPr lang="en-GB" sz="2800" dirty="0">
                <a:solidFill>
                  <a:srgbClr val="FF0000"/>
                </a:solidFill>
              </a:rPr>
              <a:t>The </a:t>
            </a:r>
            <a:r>
              <a:rPr lang="en-GB" sz="2800" dirty="0" err="1">
                <a:solidFill>
                  <a:srgbClr val="FF0000"/>
                </a:solidFill>
              </a:rPr>
              <a:t>Dulo</a:t>
            </a:r>
            <a:r>
              <a:rPr lang="en-GB" sz="2800" dirty="0">
                <a:solidFill>
                  <a:srgbClr val="FF0000"/>
                </a:solidFill>
              </a:rPr>
              <a:t> (1594-1602), Melba (1603-10) and </a:t>
            </a:r>
            <a:r>
              <a:rPr lang="en-GB" sz="2800" dirty="0" err="1">
                <a:solidFill>
                  <a:srgbClr val="FF0000"/>
                </a:solidFill>
              </a:rPr>
              <a:t>Mudena</a:t>
            </a:r>
            <a:r>
              <a:rPr lang="en-GB" sz="2800" dirty="0">
                <a:solidFill>
                  <a:srgbClr val="FF0000"/>
                </a:solidFill>
              </a:rPr>
              <a:t> (1610-18)</a:t>
            </a:r>
            <a:r>
              <a:rPr lang="en-GB" sz="2800" dirty="0"/>
              <a:t> expanded to West and Northern parts of the Horn of Africa while others like the </a:t>
            </a:r>
            <a:r>
              <a:rPr lang="en-GB" sz="2800" dirty="0" err="1"/>
              <a:t>Warday</a:t>
            </a:r>
            <a:r>
              <a:rPr lang="en-GB" sz="2800" dirty="0"/>
              <a:t> moved to Kenya, and Bur </a:t>
            </a:r>
            <a:r>
              <a:rPr lang="en-GB" sz="2800" dirty="0" err="1"/>
              <a:t>Haqaba</a:t>
            </a:r>
            <a:r>
              <a:rPr lang="en-GB" sz="2800" dirty="0"/>
              <a:t> and </a:t>
            </a:r>
            <a:r>
              <a:rPr lang="en-GB" sz="2800" dirty="0" err="1"/>
              <a:t>Majertin</a:t>
            </a:r>
            <a:r>
              <a:rPr lang="en-GB" sz="2800" dirty="0"/>
              <a:t> in Somalia</a:t>
            </a:r>
            <a:r>
              <a:rPr lang="en-GB" sz="2800" dirty="0" smtClean="0"/>
              <a:t>.</a:t>
            </a:r>
          </a:p>
          <a:p>
            <a:r>
              <a:rPr lang="en-GB" sz="2800" dirty="0" smtClean="0"/>
              <a:t> </a:t>
            </a:r>
            <a:r>
              <a:rPr lang="en-GB" sz="2800" dirty="0"/>
              <a:t>The organization of the Oromo under the </a:t>
            </a:r>
            <a:r>
              <a:rPr lang="en-GB" sz="2800" dirty="0" err="1"/>
              <a:t>Gadaa</a:t>
            </a:r>
            <a:r>
              <a:rPr lang="en-GB" sz="2800" dirty="0"/>
              <a:t> system played a crucial role in the success of the Oromo population movement.  </a:t>
            </a:r>
          </a:p>
          <a:p>
            <a:pPr marL="109728" indent="0">
              <a:buNone/>
            </a:pPr>
            <a:endParaRPr lang="en-GB" dirty="0"/>
          </a:p>
          <a:p>
            <a:endParaRPr lang="en-GB" dirty="0"/>
          </a:p>
        </p:txBody>
      </p:sp>
    </p:spTree>
    <p:extLst>
      <p:ext uri="{BB962C8B-B14F-4D97-AF65-F5344CB8AC3E}">
        <p14:creationId xmlns:p14="http://schemas.microsoft.com/office/powerpoint/2010/main" val="20384612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48680"/>
            <a:ext cx="8229600" cy="5458611"/>
          </a:xfrm>
        </p:spPr>
        <p:txBody>
          <a:bodyPr>
            <a:normAutofit lnSpcReduction="10000"/>
          </a:bodyPr>
          <a:lstStyle/>
          <a:p>
            <a:r>
              <a:rPr lang="en-GB" dirty="0"/>
              <a:t>In due course, </a:t>
            </a:r>
            <a:r>
              <a:rPr lang="en-GB" dirty="0" err="1"/>
              <a:t>Oda</a:t>
            </a:r>
            <a:r>
              <a:rPr lang="en-GB" dirty="0"/>
              <a:t> </a:t>
            </a:r>
            <a:r>
              <a:rPr lang="en-GB" dirty="0" err="1"/>
              <a:t>Nabee</a:t>
            </a:r>
            <a:r>
              <a:rPr lang="en-GB" dirty="0"/>
              <a:t> of </a:t>
            </a:r>
            <a:r>
              <a:rPr lang="en-GB" dirty="0" err="1"/>
              <a:t>Tulama</a:t>
            </a:r>
            <a:r>
              <a:rPr lang="en-GB" dirty="0"/>
              <a:t>, </a:t>
            </a:r>
            <a:r>
              <a:rPr lang="en-GB" dirty="0" err="1" smtClean="0"/>
              <a:t>Oda</a:t>
            </a:r>
            <a:r>
              <a:rPr lang="en-GB" dirty="0" smtClean="0"/>
              <a:t> </a:t>
            </a:r>
            <a:r>
              <a:rPr lang="en-GB" dirty="0" err="1" smtClean="0"/>
              <a:t>Roba</a:t>
            </a:r>
            <a:r>
              <a:rPr lang="en-GB" dirty="0" smtClean="0"/>
              <a:t> of </a:t>
            </a:r>
            <a:r>
              <a:rPr lang="en-GB" dirty="0" err="1"/>
              <a:t>Sikko-Mando</a:t>
            </a:r>
            <a:r>
              <a:rPr lang="en-GB" dirty="0"/>
              <a:t> (</a:t>
            </a:r>
            <a:r>
              <a:rPr lang="en-GB" dirty="0" err="1"/>
              <a:t>Arsi</a:t>
            </a:r>
            <a:r>
              <a:rPr lang="en-GB" dirty="0"/>
              <a:t>), </a:t>
            </a:r>
            <a:r>
              <a:rPr lang="en-GB" dirty="0" err="1"/>
              <a:t>Oda</a:t>
            </a:r>
            <a:r>
              <a:rPr lang="en-GB" dirty="0"/>
              <a:t> </a:t>
            </a:r>
            <a:r>
              <a:rPr lang="en-GB" dirty="0" err="1"/>
              <a:t>Bultum</a:t>
            </a:r>
            <a:r>
              <a:rPr lang="en-GB" dirty="0"/>
              <a:t> of </a:t>
            </a:r>
            <a:r>
              <a:rPr lang="en-GB" dirty="0" err="1" smtClean="0"/>
              <a:t>ItuAnniyya</a:t>
            </a:r>
            <a:r>
              <a:rPr lang="en-GB" dirty="0" smtClean="0"/>
              <a:t> </a:t>
            </a:r>
            <a:r>
              <a:rPr lang="en-GB" dirty="0"/>
              <a:t>and </a:t>
            </a:r>
            <a:r>
              <a:rPr lang="en-GB" dirty="0" err="1"/>
              <a:t>Qal‘o</a:t>
            </a:r>
            <a:r>
              <a:rPr lang="en-GB" dirty="0"/>
              <a:t>, </a:t>
            </a:r>
            <a:r>
              <a:rPr lang="en-GB" dirty="0" err="1" smtClean="0"/>
              <a:t>Oda</a:t>
            </a:r>
            <a:r>
              <a:rPr lang="en-GB" dirty="0" smtClean="0"/>
              <a:t> </a:t>
            </a:r>
            <a:r>
              <a:rPr lang="en-GB" dirty="0" err="1" smtClean="0"/>
              <a:t>Bisil</a:t>
            </a:r>
            <a:r>
              <a:rPr lang="en-GB" dirty="0" smtClean="0"/>
              <a:t> of </a:t>
            </a:r>
            <a:r>
              <a:rPr lang="en-GB" dirty="0" err="1" smtClean="0"/>
              <a:t>Mecha</a:t>
            </a:r>
            <a:r>
              <a:rPr lang="en-GB" dirty="0" smtClean="0"/>
              <a:t> and </a:t>
            </a:r>
            <a:r>
              <a:rPr lang="en-GB" dirty="0" err="1"/>
              <a:t>Oda</a:t>
            </a:r>
            <a:r>
              <a:rPr lang="en-GB" dirty="0"/>
              <a:t> </a:t>
            </a:r>
            <a:r>
              <a:rPr lang="en-GB" dirty="0" err="1"/>
              <a:t>Bulluq</a:t>
            </a:r>
            <a:r>
              <a:rPr lang="en-GB" dirty="0"/>
              <a:t> of </a:t>
            </a:r>
            <a:r>
              <a:rPr lang="en-GB" dirty="0" err="1"/>
              <a:t>Jawwi</a:t>
            </a:r>
            <a:r>
              <a:rPr lang="en-GB" dirty="0"/>
              <a:t> </a:t>
            </a:r>
            <a:r>
              <a:rPr lang="en-GB" dirty="0" err="1" smtClean="0"/>
              <a:t>Mecha</a:t>
            </a:r>
            <a:r>
              <a:rPr lang="en-GB" dirty="0" smtClean="0"/>
              <a:t> </a:t>
            </a:r>
            <a:r>
              <a:rPr lang="en-GB" dirty="0"/>
              <a:t>became major </a:t>
            </a:r>
            <a:r>
              <a:rPr lang="en-GB" dirty="0" err="1"/>
              <a:t>Gadaa</a:t>
            </a:r>
            <a:r>
              <a:rPr lang="en-GB" dirty="0"/>
              <a:t> </a:t>
            </a:r>
            <a:r>
              <a:rPr lang="en-GB" dirty="0" err="1"/>
              <a:t>centers</a:t>
            </a:r>
            <a:r>
              <a:rPr lang="en-GB" dirty="0" smtClean="0"/>
              <a:t>. </a:t>
            </a:r>
            <a:r>
              <a:rPr lang="en-GB" dirty="0"/>
              <a:t>Other </a:t>
            </a:r>
            <a:r>
              <a:rPr lang="en-GB" dirty="0" err="1"/>
              <a:t>Gadaa</a:t>
            </a:r>
            <a:r>
              <a:rPr lang="en-GB" dirty="0"/>
              <a:t> </a:t>
            </a:r>
            <a:r>
              <a:rPr lang="en-GB" dirty="0" err="1"/>
              <a:t>centers</a:t>
            </a:r>
            <a:r>
              <a:rPr lang="en-GB" dirty="0"/>
              <a:t> included </a:t>
            </a:r>
            <a:r>
              <a:rPr lang="en-GB" dirty="0" err="1"/>
              <a:t>Gayo</a:t>
            </a:r>
            <a:r>
              <a:rPr lang="en-GB" dirty="0"/>
              <a:t> of </a:t>
            </a:r>
            <a:r>
              <a:rPr lang="en-GB" dirty="0" err="1"/>
              <a:t>Sabbo-Gona</a:t>
            </a:r>
            <a:r>
              <a:rPr lang="en-GB" dirty="0"/>
              <a:t>, </a:t>
            </a:r>
            <a:r>
              <a:rPr lang="en-GB" dirty="0" err="1"/>
              <a:t>Me'e</a:t>
            </a:r>
            <a:r>
              <a:rPr lang="en-GB" dirty="0"/>
              <a:t> </a:t>
            </a:r>
            <a:r>
              <a:rPr lang="en-GB" dirty="0" err="1"/>
              <a:t>Bokko</a:t>
            </a:r>
            <a:r>
              <a:rPr lang="en-GB" dirty="0"/>
              <a:t> of </a:t>
            </a:r>
            <a:r>
              <a:rPr lang="en-GB" dirty="0" err="1"/>
              <a:t>Guji</a:t>
            </a:r>
            <a:r>
              <a:rPr lang="en-GB" dirty="0"/>
              <a:t>, </a:t>
            </a:r>
            <a:r>
              <a:rPr lang="en-GB" dirty="0" err="1"/>
              <a:t>Oda</a:t>
            </a:r>
            <a:r>
              <a:rPr lang="en-GB" dirty="0"/>
              <a:t> </a:t>
            </a:r>
            <a:r>
              <a:rPr lang="en-GB" dirty="0" err="1"/>
              <a:t>Dogi</a:t>
            </a:r>
            <a:r>
              <a:rPr lang="en-GB" dirty="0"/>
              <a:t> of Ilu, </a:t>
            </a:r>
            <a:r>
              <a:rPr lang="en-GB" dirty="0" err="1"/>
              <a:t>Oda</a:t>
            </a:r>
            <a:r>
              <a:rPr lang="en-GB" dirty="0"/>
              <a:t> </a:t>
            </a:r>
            <a:r>
              <a:rPr lang="en-GB" dirty="0" err="1"/>
              <a:t>Hulle</a:t>
            </a:r>
            <a:r>
              <a:rPr lang="en-GB" dirty="0"/>
              <a:t> of </a:t>
            </a:r>
            <a:r>
              <a:rPr lang="en-GB" dirty="0" err="1"/>
              <a:t>Jimma</a:t>
            </a:r>
            <a:r>
              <a:rPr lang="en-GB" dirty="0"/>
              <a:t>, </a:t>
            </a:r>
            <a:r>
              <a:rPr lang="en-GB" dirty="0" err="1"/>
              <a:t>Oda</a:t>
            </a:r>
            <a:r>
              <a:rPr lang="en-GB" dirty="0"/>
              <a:t> </a:t>
            </a:r>
            <a:r>
              <a:rPr lang="en-GB" dirty="0" err="1"/>
              <a:t>Gerado</a:t>
            </a:r>
            <a:r>
              <a:rPr lang="en-GB" dirty="0"/>
              <a:t>/</a:t>
            </a:r>
            <a:r>
              <a:rPr lang="en-GB" dirty="0" err="1"/>
              <a:t>Makodi</a:t>
            </a:r>
            <a:r>
              <a:rPr lang="en-GB" dirty="0"/>
              <a:t> of </a:t>
            </a:r>
            <a:r>
              <a:rPr lang="en-GB" dirty="0" err="1"/>
              <a:t>Wollo</a:t>
            </a:r>
            <a:r>
              <a:rPr lang="en-GB" dirty="0"/>
              <a:t>, etc</a:t>
            </a:r>
            <a:r>
              <a:rPr lang="en-GB" dirty="0" smtClean="0"/>
              <a:t>.</a:t>
            </a:r>
          </a:p>
          <a:p>
            <a:r>
              <a:rPr lang="en-GB" dirty="0" smtClean="0"/>
              <a:t> </a:t>
            </a:r>
            <a:r>
              <a:rPr lang="en-GB" dirty="0" err="1"/>
              <a:t>Gadaa</a:t>
            </a:r>
            <a:r>
              <a:rPr lang="en-GB" dirty="0"/>
              <a:t> leaders such as </a:t>
            </a:r>
            <a:r>
              <a:rPr lang="en-GB" dirty="0" err="1"/>
              <a:t>Dawe</a:t>
            </a:r>
            <a:r>
              <a:rPr lang="en-GB" dirty="0"/>
              <a:t> </a:t>
            </a:r>
            <a:r>
              <a:rPr lang="en-GB" dirty="0" err="1"/>
              <a:t>Gobbo</a:t>
            </a:r>
            <a:r>
              <a:rPr lang="en-GB" dirty="0"/>
              <a:t> of </a:t>
            </a:r>
            <a:r>
              <a:rPr lang="en-GB" dirty="0" err="1"/>
              <a:t>Borana</a:t>
            </a:r>
            <a:r>
              <a:rPr lang="en-GB" dirty="0"/>
              <a:t>, Anna </a:t>
            </a:r>
            <a:r>
              <a:rPr lang="en-GB" dirty="0" err="1"/>
              <a:t>Sorra</a:t>
            </a:r>
            <a:r>
              <a:rPr lang="en-GB" dirty="0"/>
              <a:t> of </a:t>
            </a:r>
            <a:r>
              <a:rPr lang="en-GB" dirty="0" err="1"/>
              <a:t>Guji</a:t>
            </a:r>
            <a:r>
              <a:rPr lang="en-GB" dirty="0"/>
              <a:t>, </a:t>
            </a:r>
            <a:r>
              <a:rPr lang="en-GB" dirty="0" err="1"/>
              <a:t>Changare</a:t>
            </a:r>
            <a:r>
              <a:rPr lang="en-GB" dirty="0"/>
              <a:t> </a:t>
            </a:r>
            <a:r>
              <a:rPr lang="en-GB" dirty="0" err="1"/>
              <a:t>Korbo</a:t>
            </a:r>
            <a:r>
              <a:rPr lang="en-GB" dirty="0"/>
              <a:t> of </a:t>
            </a:r>
            <a:r>
              <a:rPr lang="en-GB" dirty="0" err="1"/>
              <a:t>Tulama</a:t>
            </a:r>
            <a:r>
              <a:rPr lang="en-GB" dirty="0"/>
              <a:t>, </a:t>
            </a:r>
            <a:r>
              <a:rPr lang="en-GB" dirty="0" err="1"/>
              <a:t>Makko-Bili</a:t>
            </a:r>
            <a:r>
              <a:rPr lang="en-GB" dirty="0"/>
              <a:t> of </a:t>
            </a:r>
            <a:r>
              <a:rPr lang="en-GB" dirty="0" err="1"/>
              <a:t>Mecha</a:t>
            </a:r>
            <a:r>
              <a:rPr lang="en-GB" dirty="0"/>
              <a:t>, </a:t>
            </a:r>
            <a:r>
              <a:rPr lang="en-GB" dirty="0" err="1"/>
              <a:t>Babbo</a:t>
            </a:r>
            <a:r>
              <a:rPr lang="en-GB" dirty="0"/>
              <a:t> </a:t>
            </a:r>
            <a:r>
              <a:rPr lang="en-GB" dirty="0" err="1"/>
              <a:t>Koyye</a:t>
            </a:r>
            <a:r>
              <a:rPr lang="en-GB" dirty="0"/>
              <a:t> of </a:t>
            </a:r>
            <a:r>
              <a:rPr lang="en-GB" dirty="0" err="1"/>
              <a:t>Jimma</a:t>
            </a:r>
            <a:r>
              <a:rPr lang="en-GB" dirty="0"/>
              <a:t> and others laid down cardinal laws in their respective areas</a:t>
            </a:r>
          </a:p>
        </p:txBody>
      </p:sp>
    </p:spTree>
    <p:extLst>
      <p:ext uri="{BB962C8B-B14F-4D97-AF65-F5344CB8AC3E}">
        <p14:creationId xmlns:p14="http://schemas.microsoft.com/office/powerpoint/2010/main" val="1527920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GB" dirty="0"/>
              <a:t>While territorial and religious expansion by the Christian kingdom and the Ethiopian Orthodox Church diffused Christian tradition from north to the south, the wars of Imam Ahmed and the population movements of the </a:t>
            </a:r>
            <a:r>
              <a:rPr lang="en-GB" dirty="0" err="1"/>
              <a:t>Argobba</a:t>
            </a:r>
            <a:r>
              <a:rPr lang="en-GB" dirty="0"/>
              <a:t>, the Afar and the Somali caused the expansion of Islam into the Christian kingdom.</a:t>
            </a:r>
          </a:p>
        </p:txBody>
      </p:sp>
      <p:sp>
        <p:nvSpPr>
          <p:cNvPr id="3" name="Title 2"/>
          <p:cNvSpPr>
            <a:spLocks noGrp="1"/>
          </p:cNvSpPr>
          <p:nvPr>
            <p:ph type="title"/>
          </p:nvPr>
        </p:nvSpPr>
        <p:spPr/>
        <p:txBody>
          <a:bodyPr>
            <a:normAutofit fontScale="90000"/>
          </a:bodyPr>
          <a:lstStyle/>
          <a:p>
            <a:r>
              <a:rPr lang="en-GB" dirty="0"/>
              <a:t>5.4. Ethnic and Religious Interaction and Integration </a:t>
            </a:r>
          </a:p>
        </p:txBody>
      </p:sp>
    </p:spTree>
    <p:extLst>
      <p:ext uri="{BB962C8B-B14F-4D97-AF65-F5344CB8AC3E}">
        <p14:creationId xmlns:p14="http://schemas.microsoft.com/office/powerpoint/2010/main" val="11491505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fontScale="77500" lnSpcReduction="20000"/>
          </a:bodyPr>
          <a:lstStyle/>
          <a:p>
            <a:r>
              <a:rPr lang="en-GB" dirty="0"/>
              <a:t>The Oromo population movement brought far-reaching changes to the socio-political map of Ethiopia and the Horn. </a:t>
            </a:r>
            <a:endParaRPr lang="en-GB" dirty="0" smtClean="0"/>
          </a:p>
          <a:p>
            <a:r>
              <a:rPr lang="en-GB" dirty="0" smtClean="0">
                <a:solidFill>
                  <a:srgbClr val="FF0000"/>
                </a:solidFill>
              </a:rPr>
              <a:t>First</a:t>
            </a:r>
            <a:r>
              <a:rPr lang="en-GB" dirty="0">
                <a:solidFill>
                  <a:srgbClr val="FF0000"/>
                </a:solidFill>
              </a:rPr>
              <a:t>, it enabled the Oromo to control large territories in the region. </a:t>
            </a:r>
            <a:endParaRPr lang="en-GB" dirty="0" smtClean="0">
              <a:solidFill>
                <a:srgbClr val="FF0000"/>
              </a:solidFill>
            </a:endParaRPr>
          </a:p>
          <a:p>
            <a:r>
              <a:rPr lang="en-GB" dirty="0" smtClean="0"/>
              <a:t>Their </a:t>
            </a:r>
            <a:r>
              <a:rPr lang="en-GB" dirty="0"/>
              <a:t>advance continued unchecked by the imperial military regiments. </a:t>
            </a:r>
            <a:endParaRPr lang="en-GB" dirty="0" smtClean="0"/>
          </a:p>
          <a:p>
            <a:r>
              <a:rPr lang="en-GB" dirty="0" smtClean="0">
                <a:solidFill>
                  <a:srgbClr val="FF0000"/>
                </a:solidFill>
              </a:rPr>
              <a:t>Second</a:t>
            </a:r>
            <a:r>
              <a:rPr lang="en-GB" dirty="0">
                <a:solidFill>
                  <a:srgbClr val="FF0000"/>
                </a:solidFill>
              </a:rPr>
              <a:t>, it led to the integration of people of diverse backgrounds into Oromo society and the integration of Oromo society into other communities</a:t>
            </a:r>
            <a:r>
              <a:rPr lang="en-GB" dirty="0" smtClean="0">
                <a:solidFill>
                  <a:srgbClr val="FF0000"/>
                </a:solidFill>
              </a:rPr>
              <a:t>.</a:t>
            </a:r>
          </a:p>
          <a:p>
            <a:r>
              <a:rPr lang="en-GB" dirty="0" smtClean="0"/>
              <a:t> </a:t>
            </a:r>
            <a:r>
              <a:rPr lang="en-GB" dirty="0"/>
              <a:t>Within the </a:t>
            </a:r>
            <a:r>
              <a:rPr lang="en-GB" dirty="0" err="1"/>
              <a:t>Gadaa</a:t>
            </a:r>
            <a:r>
              <a:rPr lang="en-GB" dirty="0"/>
              <a:t> system, the Oromo applied two socialization mechanisms: </a:t>
            </a:r>
            <a:r>
              <a:rPr lang="en-GB" dirty="0" err="1">
                <a:solidFill>
                  <a:srgbClr val="FF0000"/>
                </a:solidFill>
              </a:rPr>
              <a:t>Guddifacha</a:t>
            </a:r>
            <a:r>
              <a:rPr lang="en-GB" dirty="0">
                <a:solidFill>
                  <a:srgbClr val="FF0000"/>
                </a:solidFill>
              </a:rPr>
              <a:t> and </a:t>
            </a:r>
            <a:r>
              <a:rPr lang="en-GB" dirty="0" err="1">
                <a:solidFill>
                  <a:srgbClr val="FF0000"/>
                </a:solidFill>
              </a:rPr>
              <a:t>Moggasa</a:t>
            </a:r>
            <a:r>
              <a:rPr lang="en-GB" dirty="0"/>
              <a:t>. </a:t>
            </a:r>
            <a:endParaRPr lang="en-GB" dirty="0" smtClean="0"/>
          </a:p>
          <a:p>
            <a:r>
              <a:rPr lang="en-GB" dirty="0" err="1" smtClean="0"/>
              <a:t>Guddifacha</a:t>
            </a:r>
            <a:r>
              <a:rPr lang="en-GB" dirty="0" smtClean="0"/>
              <a:t> </a:t>
            </a:r>
            <a:r>
              <a:rPr lang="en-GB" dirty="0"/>
              <a:t>was the adoption (fostering) of a child, who would enjoy equal privileges with a biological child. </a:t>
            </a:r>
            <a:endParaRPr lang="en-GB" dirty="0" smtClean="0"/>
          </a:p>
          <a:p>
            <a:r>
              <a:rPr lang="en-GB" dirty="0" smtClean="0"/>
              <a:t>Likewise</a:t>
            </a:r>
            <a:r>
              <a:rPr lang="en-GB" dirty="0"/>
              <a:t>, </a:t>
            </a:r>
            <a:r>
              <a:rPr lang="en-GB" dirty="0" err="1"/>
              <a:t>Moggasa</a:t>
            </a:r>
            <a:r>
              <a:rPr lang="en-GB" dirty="0"/>
              <a:t> was a system of amalgamation of groups into a clan through an oath of allegiance, with all the rights and obligations that such membership entailed.</a:t>
            </a:r>
          </a:p>
        </p:txBody>
      </p:sp>
    </p:spTree>
    <p:extLst>
      <p:ext uri="{BB962C8B-B14F-4D97-AF65-F5344CB8AC3E}">
        <p14:creationId xmlns:p14="http://schemas.microsoft.com/office/powerpoint/2010/main" val="3839628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6632"/>
            <a:ext cx="8229600" cy="5890659"/>
          </a:xfrm>
        </p:spPr>
        <p:txBody>
          <a:bodyPr>
            <a:normAutofit lnSpcReduction="10000"/>
          </a:bodyPr>
          <a:lstStyle/>
          <a:p>
            <a:r>
              <a:rPr lang="en-GB" dirty="0"/>
              <a:t> Third, the interactions resulted in the exchange of institutions. </a:t>
            </a:r>
            <a:endParaRPr lang="en-GB" dirty="0" smtClean="0"/>
          </a:p>
          <a:p>
            <a:r>
              <a:rPr lang="en-GB" dirty="0" smtClean="0"/>
              <a:t>A </a:t>
            </a:r>
            <a:r>
              <a:rPr lang="en-GB" dirty="0"/>
              <a:t>number of people in the </a:t>
            </a:r>
            <a:r>
              <a:rPr lang="en-GB" dirty="0" err="1"/>
              <a:t>neighborhood</a:t>
            </a:r>
            <a:r>
              <a:rPr lang="en-GB" dirty="0"/>
              <a:t> of the Oromo adopted the </a:t>
            </a:r>
            <a:r>
              <a:rPr lang="en-GB" dirty="0" err="1"/>
              <a:t>Gadaa</a:t>
            </a:r>
            <a:r>
              <a:rPr lang="en-GB" dirty="0"/>
              <a:t> system and the Oromo language. </a:t>
            </a:r>
            <a:endParaRPr lang="en-GB" dirty="0" smtClean="0"/>
          </a:p>
          <a:p>
            <a:r>
              <a:rPr lang="en-GB" dirty="0" smtClean="0"/>
              <a:t>Similarly</a:t>
            </a:r>
            <a:r>
              <a:rPr lang="en-GB" dirty="0"/>
              <a:t>, the Oromo adopted the traditions of the people with whom they came into contact</a:t>
            </a:r>
            <a:r>
              <a:rPr lang="en-GB" dirty="0" smtClean="0"/>
              <a:t>.</a:t>
            </a:r>
          </a:p>
          <a:p>
            <a:r>
              <a:rPr lang="en-GB" dirty="0" smtClean="0"/>
              <a:t> A case in point is the adoption of monarchical systems by the Gibe Oromo states, and the integration of the Oromo into the Christian kingdom‘s political system, both at the expense of the </a:t>
            </a:r>
            <a:r>
              <a:rPr lang="en-GB" dirty="0" err="1" smtClean="0"/>
              <a:t>Gadaa</a:t>
            </a:r>
            <a:r>
              <a:rPr lang="en-GB" dirty="0" smtClean="0"/>
              <a:t> system, without abandoning their basic cultural and linguistic markers.</a:t>
            </a:r>
          </a:p>
          <a:p>
            <a:endParaRPr lang="en-GB" dirty="0"/>
          </a:p>
        </p:txBody>
      </p:sp>
    </p:spTree>
    <p:extLst>
      <p:ext uri="{BB962C8B-B14F-4D97-AF65-F5344CB8AC3E}">
        <p14:creationId xmlns:p14="http://schemas.microsoft.com/office/powerpoint/2010/main" val="33961136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20688"/>
            <a:ext cx="8229600" cy="5386603"/>
          </a:xfrm>
        </p:spPr>
        <p:txBody>
          <a:bodyPr>
            <a:normAutofit fontScale="92500"/>
          </a:bodyPr>
          <a:lstStyle/>
          <a:p>
            <a:r>
              <a:rPr lang="en-GB" dirty="0"/>
              <a:t>It is important to mention the rise of Oromo political elites, warlords, land-owning nobles (Oromo </a:t>
            </a:r>
            <a:r>
              <a:rPr lang="en-GB" dirty="0" err="1"/>
              <a:t>balabats</a:t>
            </a:r>
            <a:r>
              <a:rPr lang="en-GB" dirty="0"/>
              <a:t>) and regional dynasties as a result of integration within the Ethiopian state. </a:t>
            </a:r>
            <a:endParaRPr lang="en-GB" dirty="0" smtClean="0"/>
          </a:p>
          <a:p>
            <a:r>
              <a:rPr lang="en-GB" dirty="0" smtClean="0"/>
              <a:t>These </a:t>
            </a:r>
            <a:r>
              <a:rPr lang="en-GB" dirty="0"/>
              <a:t>have been outcomes of long processes of integrating the Oromo by the state, effectively implemented since the reign of </a:t>
            </a:r>
            <a:r>
              <a:rPr lang="en-GB" dirty="0" err="1"/>
              <a:t>Sertsa-Dengel</a:t>
            </a:r>
            <a:r>
              <a:rPr lang="en-GB" dirty="0"/>
              <a:t>. Military service, patrimonial, and political alliances were the three major avenues for Oromo integration into the establishments. </a:t>
            </a:r>
            <a:endParaRPr lang="en-GB" dirty="0" smtClean="0"/>
          </a:p>
          <a:p>
            <a:r>
              <a:rPr lang="en-GB" dirty="0" smtClean="0"/>
              <a:t>The </a:t>
            </a:r>
            <a:r>
              <a:rPr lang="en-GB" dirty="0"/>
              <a:t>processes continued well into the </a:t>
            </a:r>
            <a:r>
              <a:rPr lang="en-GB" dirty="0" err="1"/>
              <a:t>Gondarine</a:t>
            </a:r>
            <a:r>
              <a:rPr lang="en-GB" dirty="0"/>
              <a:t> period, the </a:t>
            </a:r>
            <a:r>
              <a:rPr lang="en-GB" dirty="0" err="1"/>
              <a:t>Zemene</a:t>
            </a:r>
            <a:r>
              <a:rPr lang="en-GB" dirty="0"/>
              <a:t>- </a:t>
            </a:r>
            <a:r>
              <a:rPr lang="en-GB" dirty="0" err="1"/>
              <a:t>Mesafint</a:t>
            </a:r>
            <a:r>
              <a:rPr lang="en-GB" dirty="0"/>
              <a:t>, and the making of modern Ethiopia.  </a:t>
            </a:r>
          </a:p>
          <a:p>
            <a:pPr marL="109728" indent="0">
              <a:buNone/>
            </a:pPr>
            <a:endParaRPr lang="en-GB" dirty="0"/>
          </a:p>
        </p:txBody>
      </p:sp>
    </p:spTree>
    <p:extLst>
      <p:ext uri="{BB962C8B-B14F-4D97-AF65-F5344CB8AC3E}">
        <p14:creationId xmlns:p14="http://schemas.microsoft.com/office/powerpoint/2010/main" val="3901325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988841"/>
            <a:ext cx="8820472" cy="3960440"/>
          </a:xfrm>
        </p:spPr>
        <p:txBody>
          <a:bodyPr>
            <a:normAutofit fontScale="77500" lnSpcReduction="20000"/>
          </a:bodyPr>
          <a:lstStyle/>
          <a:p>
            <a:r>
              <a:rPr lang="en-GB" dirty="0"/>
              <a:t>As a prelude to the discussion, </a:t>
            </a:r>
            <a:r>
              <a:rPr lang="en-GB" dirty="0">
                <a:solidFill>
                  <a:srgbClr val="FF0000"/>
                </a:solidFill>
              </a:rPr>
              <a:t>it is important to emphasize that it is not possible in the space of a brief teaching module such as this to exhaust all the peoples and states that existed in the region</a:t>
            </a:r>
            <a:r>
              <a:rPr lang="en-GB" dirty="0"/>
              <a:t>. </a:t>
            </a:r>
            <a:endParaRPr lang="en-GB" dirty="0" smtClean="0"/>
          </a:p>
          <a:p>
            <a:r>
              <a:rPr lang="en-GB" dirty="0" smtClean="0"/>
              <a:t>Therefore</a:t>
            </a:r>
            <a:r>
              <a:rPr lang="en-GB" dirty="0"/>
              <a:t>, the section explores the history of some of the peoples and states (as illustrations) in the period under consideration. </a:t>
            </a:r>
            <a:endParaRPr lang="en-GB" dirty="0" smtClean="0"/>
          </a:p>
          <a:p>
            <a:r>
              <a:rPr lang="en-GB" dirty="0" smtClean="0"/>
              <a:t>Besides</a:t>
            </a:r>
            <a:r>
              <a:rPr lang="en-GB" dirty="0"/>
              <a:t>, the discussion of these peoples and states in a separate section does not mean that they had no connection with peoples and polities in northern half of the country. </a:t>
            </a:r>
            <a:endParaRPr lang="en-GB" dirty="0" smtClean="0"/>
          </a:p>
          <a:p>
            <a:r>
              <a:rPr lang="en-GB" dirty="0" smtClean="0"/>
              <a:t>The </a:t>
            </a:r>
            <a:r>
              <a:rPr lang="en-GB" dirty="0"/>
              <a:t>various peoples and states of the region maintained relations through various avenues of contact such as long-distance </a:t>
            </a:r>
            <a:r>
              <a:rPr lang="en-GB" dirty="0" smtClean="0"/>
              <a:t>trade.</a:t>
            </a:r>
            <a:endParaRPr lang="en-GB" dirty="0"/>
          </a:p>
        </p:txBody>
      </p:sp>
      <p:sp>
        <p:nvSpPr>
          <p:cNvPr id="3" name="Title 2"/>
          <p:cNvSpPr>
            <a:spLocks noGrp="1"/>
          </p:cNvSpPr>
          <p:nvPr>
            <p:ph type="title"/>
          </p:nvPr>
        </p:nvSpPr>
        <p:spPr>
          <a:xfrm>
            <a:off x="457200" y="274638"/>
            <a:ext cx="8229600" cy="1714202"/>
          </a:xfrm>
        </p:spPr>
        <p:txBody>
          <a:bodyPr>
            <a:normAutofit fontScale="90000"/>
          </a:bodyPr>
          <a:lstStyle/>
          <a:p>
            <a:r>
              <a:rPr lang="en-GB" dirty="0">
                <a:solidFill>
                  <a:srgbClr val="FF0000"/>
                </a:solidFill>
              </a:rPr>
              <a:t>5.5. Peoples and States in Eastern, Central, Southern and Western Parts of the Region </a:t>
            </a:r>
          </a:p>
        </p:txBody>
      </p:sp>
    </p:spTree>
    <p:extLst>
      <p:ext uri="{BB962C8B-B14F-4D97-AF65-F5344CB8AC3E}">
        <p14:creationId xmlns:p14="http://schemas.microsoft.com/office/powerpoint/2010/main" val="2825639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GB" b="1" dirty="0">
                <a:solidFill>
                  <a:srgbClr val="FF0000"/>
                </a:solidFill>
              </a:rPr>
              <a:t>The Emirate of </a:t>
            </a:r>
            <a:r>
              <a:rPr lang="en-GB" b="1" dirty="0" err="1">
                <a:solidFill>
                  <a:srgbClr val="FF0000"/>
                </a:solidFill>
              </a:rPr>
              <a:t>Harar</a:t>
            </a:r>
            <a:r>
              <a:rPr lang="en-GB" b="1" dirty="0">
                <a:solidFill>
                  <a:srgbClr val="FF0000"/>
                </a:solidFill>
              </a:rPr>
              <a:t> </a:t>
            </a:r>
            <a:endParaRPr lang="en-GB" b="1" dirty="0" smtClean="0">
              <a:solidFill>
                <a:srgbClr val="FF0000"/>
              </a:solidFill>
            </a:endParaRPr>
          </a:p>
          <a:p>
            <a:r>
              <a:rPr lang="en-GB" dirty="0" smtClean="0"/>
              <a:t>During </a:t>
            </a:r>
            <a:r>
              <a:rPr lang="en-GB" dirty="0"/>
              <a:t>the reign of </a:t>
            </a:r>
            <a:r>
              <a:rPr lang="en-GB" dirty="0">
                <a:solidFill>
                  <a:srgbClr val="00B050"/>
                </a:solidFill>
              </a:rPr>
              <a:t>Emir </a:t>
            </a:r>
            <a:r>
              <a:rPr lang="en-GB" dirty="0" err="1">
                <a:solidFill>
                  <a:srgbClr val="00B050"/>
                </a:solidFill>
              </a:rPr>
              <a:t>Nur</a:t>
            </a:r>
            <a:r>
              <a:rPr lang="en-GB" dirty="0">
                <a:solidFill>
                  <a:srgbClr val="00B050"/>
                </a:solidFill>
              </a:rPr>
              <a:t> </a:t>
            </a:r>
            <a:r>
              <a:rPr lang="en-GB" dirty="0" err="1">
                <a:solidFill>
                  <a:srgbClr val="00B050"/>
                </a:solidFill>
              </a:rPr>
              <a:t>Mujahid</a:t>
            </a:r>
            <a:r>
              <a:rPr lang="en-GB" dirty="0">
                <a:solidFill>
                  <a:srgbClr val="00B050"/>
                </a:solidFill>
              </a:rPr>
              <a:t>,</a:t>
            </a:r>
            <a:r>
              <a:rPr lang="en-GB" dirty="0"/>
              <a:t> </a:t>
            </a:r>
            <a:r>
              <a:rPr lang="en-GB" dirty="0" err="1">
                <a:solidFill>
                  <a:srgbClr val="FF0000"/>
                </a:solidFill>
              </a:rPr>
              <a:t>Harar</a:t>
            </a:r>
            <a:r>
              <a:rPr lang="en-GB" dirty="0">
                <a:solidFill>
                  <a:srgbClr val="FF0000"/>
                </a:solidFill>
              </a:rPr>
              <a:t> became a walled city. </a:t>
            </a:r>
            <a:endParaRPr lang="en-GB" dirty="0" smtClean="0">
              <a:solidFill>
                <a:srgbClr val="FF0000"/>
              </a:solidFill>
            </a:endParaRPr>
          </a:p>
          <a:p>
            <a:r>
              <a:rPr lang="en-GB" b="1" dirty="0" smtClean="0">
                <a:solidFill>
                  <a:srgbClr val="00B050"/>
                </a:solidFill>
              </a:rPr>
              <a:t>Emir </a:t>
            </a:r>
            <a:r>
              <a:rPr lang="en-GB" b="1" dirty="0">
                <a:solidFill>
                  <a:srgbClr val="00B050"/>
                </a:solidFill>
              </a:rPr>
              <a:t>Ali </a:t>
            </a:r>
            <a:r>
              <a:rPr lang="en-GB" b="1" dirty="0" err="1">
                <a:solidFill>
                  <a:srgbClr val="00B050"/>
                </a:solidFill>
              </a:rPr>
              <a:t>ibn</a:t>
            </a:r>
            <a:r>
              <a:rPr lang="en-GB" b="1" dirty="0">
                <a:solidFill>
                  <a:srgbClr val="00B050"/>
                </a:solidFill>
              </a:rPr>
              <a:t> </a:t>
            </a:r>
            <a:r>
              <a:rPr lang="en-GB" b="1" dirty="0" err="1">
                <a:solidFill>
                  <a:srgbClr val="00B050"/>
                </a:solidFill>
              </a:rPr>
              <a:t>Da‘ud</a:t>
            </a:r>
            <a:r>
              <a:rPr lang="en-GB" b="1" dirty="0">
                <a:solidFill>
                  <a:srgbClr val="00B050"/>
                </a:solidFill>
              </a:rPr>
              <a:t> (r. 164762</a:t>
            </a:r>
            <a:r>
              <a:rPr lang="en-GB" dirty="0"/>
              <a:t>) founded a new dynasty that ruled the Emirate for over two centuries and a half. </a:t>
            </a:r>
            <a:endParaRPr lang="en-GB" dirty="0" smtClean="0"/>
          </a:p>
          <a:p>
            <a:r>
              <a:rPr lang="en-GB" dirty="0" smtClean="0"/>
              <a:t>It </a:t>
            </a:r>
            <a:r>
              <a:rPr lang="en-GB" dirty="0"/>
              <a:t>was later strengthened by </a:t>
            </a:r>
            <a:r>
              <a:rPr lang="en-GB" dirty="0" err="1"/>
              <a:t>Amirs</a:t>
            </a:r>
            <a:r>
              <a:rPr lang="en-GB" dirty="0"/>
              <a:t> like Abdul Shakur (1783-94). </a:t>
            </a:r>
            <a:endParaRPr lang="en-GB" dirty="0" smtClean="0"/>
          </a:p>
          <a:p>
            <a:r>
              <a:rPr lang="en-GB" dirty="0" smtClean="0"/>
              <a:t>The </a:t>
            </a:r>
            <a:r>
              <a:rPr lang="en-GB" dirty="0"/>
              <a:t>Amir‘s council, </a:t>
            </a:r>
            <a:r>
              <a:rPr lang="en-GB" dirty="0" err="1"/>
              <a:t>Majlis</a:t>
            </a:r>
            <a:r>
              <a:rPr lang="en-GB" dirty="0"/>
              <a:t>, supervised the mosque land called </a:t>
            </a:r>
            <a:r>
              <a:rPr lang="en-GB" dirty="0" err="1"/>
              <a:t>waqf</a:t>
            </a:r>
            <a:r>
              <a:rPr lang="en-GB" dirty="0"/>
              <a:t>, and assisted the </a:t>
            </a:r>
            <a:r>
              <a:rPr lang="en-GB" dirty="0" err="1"/>
              <a:t>Amirs</a:t>
            </a:r>
            <a:r>
              <a:rPr lang="en-GB" dirty="0"/>
              <a:t>. </a:t>
            </a:r>
            <a:endParaRPr lang="en-GB" dirty="0" smtClean="0"/>
          </a:p>
          <a:p>
            <a:r>
              <a:rPr lang="en-GB" dirty="0" smtClean="0"/>
              <a:t>The </a:t>
            </a:r>
            <a:r>
              <a:rPr lang="en-GB" dirty="0" err="1"/>
              <a:t>Amirs</a:t>
            </a:r>
            <a:r>
              <a:rPr lang="en-GB" dirty="0"/>
              <a:t> would gradually extend their authority over the surrounding </a:t>
            </a:r>
            <a:r>
              <a:rPr lang="en-GB" b="1" dirty="0">
                <a:solidFill>
                  <a:srgbClr val="00B050"/>
                </a:solidFill>
              </a:rPr>
              <a:t>Afar, </a:t>
            </a:r>
            <a:r>
              <a:rPr lang="en-GB" b="1" dirty="0" err="1">
                <a:solidFill>
                  <a:srgbClr val="00B050"/>
                </a:solidFill>
              </a:rPr>
              <a:t>Argobba</a:t>
            </a:r>
            <a:r>
              <a:rPr lang="en-GB" b="1" dirty="0">
                <a:solidFill>
                  <a:srgbClr val="00B050"/>
                </a:solidFill>
              </a:rPr>
              <a:t>, Oromo </a:t>
            </a:r>
            <a:r>
              <a:rPr lang="en-GB" dirty="0"/>
              <a:t>and Somali through trade, inter-marriage, and Islamic teaching</a:t>
            </a:r>
          </a:p>
        </p:txBody>
      </p:sp>
      <p:sp>
        <p:nvSpPr>
          <p:cNvPr id="3" name="Title 2"/>
          <p:cNvSpPr>
            <a:spLocks noGrp="1"/>
          </p:cNvSpPr>
          <p:nvPr>
            <p:ph type="title"/>
          </p:nvPr>
        </p:nvSpPr>
        <p:spPr/>
        <p:txBody>
          <a:bodyPr>
            <a:normAutofit fontScale="90000"/>
          </a:bodyPr>
          <a:lstStyle/>
          <a:p>
            <a:r>
              <a:rPr lang="en-GB" dirty="0"/>
              <a:t>5.5.1 Peoples and States in the East </a:t>
            </a:r>
          </a:p>
        </p:txBody>
      </p:sp>
    </p:spTree>
    <p:extLst>
      <p:ext uri="{BB962C8B-B14F-4D97-AF65-F5344CB8AC3E}">
        <p14:creationId xmlns:p14="http://schemas.microsoft.com/office/powerpoint/2010/main" val="8187007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440</TotalTime>
  <Words>5034</Words>
  <Application>Microsoft Office PowerPoint</Application>
  <PresentationFormat>On-screen Show (4:3)</PresentationFormat>
  <Paragraphs>225</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Concourse</vt:lpstr>
      <vt:lpstr> UNIT FIVE  POLITICS, ECONOMY, AND SOCIAL PROCESSES FROM THE EARLY SIXTEENTH TO THE END OF THE EIGHTEENTH CENTURIES </vt:lpstr>
      <vt:lpstr>5.1. Conflict between the Christian Kingdom and the Sultanate of Adal, and the Aftermath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5.2. Foreign Intervention and Religious Controversies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5.3. Population Movements</vt:lpstr>
      <vt:lpstr>5.3.1. Population Movements of the Argobba, Afar, and Somali </vt:lpstr>
      <vt:lpstr>PowerPoint Presentation</vt:lpstr>
      <vt:lpstr>PowerPoint Presentation</vt:lpstr>
      <vt:lpstr>PowerPoint Presentation</vt:lpstr>
      <vt:lpstr>PowerPoint Presentation</vt:lpstr>
      <vt:lpstr>PowerPoint Presentation</vt:lpstr>
      <vt:lpstr>5.3.2. Gadaa System and Oromo Population Movement (1522-1618) </vt:lpstr>
      <vt:lpstr>PowerPoint Presentation</vt:lpstr>
      <vt:lpstr>PowerPoint Presentation</vt:lpstr>
      <vt:lpstr>PowerPoint Presentation</vt:lpstr>
      <vt:lpstr>PowerPoint Presentation</vt:lpstr>
      <vt:lpstr>PowerPoint Presentation</vt:lpstr>
      <vt:lpstr>PowerPoint Presentation</vt:lpstr>
      <vt:lpstr>The Oromo Population Movement (1522-1618</vt:lpstr>
      <vt:lpstr>PowerPoint Presentation</vt:lpstr>
      <vt:lpstr>PowerPoint Presentation</vt:lpstr>
      <vt:lpstr>PowerPoint Presentation</vt:lpstr>
      <vt:lpstr>5.4. Ethnic and Religious Interaction and Integration </vt:lpstr>
      <vt:lpstr>PowerPoint Presentation</vt:lpstr>
      <vt:lpstr>PowerPoint Presentation</vt:lpstr>
      <vt:lpstr>PowerPoint Presentation</vt:lpstr>
      <vt:lpstr>5.5. Peoples and States in Eastern, Central, Southern and Western Parts of the Region </vt:lpstr>
      <vt:lpstr>5.5.1 Peoples and States in the East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FIVE  POLITICS, ECONOMY, AND SOCIAL PROCESSES FROM THE EARLY SIXTEENTH TO THE END OF THE EIGHTEENTH CENTURIES</dc:title>
  <dc:creator>Windows User</dc:creator>
  <cp:lastModifiedBy>Windows User</cp:lastModifiedBy>
  <cp:revision>22</cp:revision>
  <dcterms:created xsi:type="dcterms:W3CDTF">2024-12-04T09:14:46Z</dcterms:created>
  <dcterms:modified xsi:type="dcterms:W3CDTF">2024-12-04T16:35:24Z</dcterms:modified>
</cp:coreProperties>
</file>